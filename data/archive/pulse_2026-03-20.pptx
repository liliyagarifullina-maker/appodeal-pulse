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March 20,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Di Luan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Thank you all for the warm wishes! Really appreciate it. Wishing you all a wonderful day as well!</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E91E63"/>
                </a:solidFill>
                <a:latin typeface="Calibri"/>
              </a:defRPr>
            </a:pPr>
            <a:r>
              <a:t>Account Manager, APAC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Aleksandr Demenko</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Another year of bringing community magic to our marketing efforts!</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5722"/>
                </a:solidFill>
                <a:latin typeface="Calibri"/>
              </a:defRPr>
            </a:pPr>
            <a:r>
              <a:t>Comunity Managment &amp; Lead Qulification | Appodeal Marketing team | Remote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Team Recognition</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4CAF50"/>
                </a:solidFill>
                <a:latin typeface="Calibri"/>
              </a:defRPr>
            </a:pPr>
            <a:r>
              <a:t>40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Anna Timoshenko</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Anton Nikifarau</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"Outstanding contributions to the UA Engineering team"</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4CAF50"/>
                </a:solidFill>
                <a:latin typeface="Calibri"/>
              </a:defRPr>
            </a:pPr>
            <a:r>
              <a:t>EXCELLENCE · TEAMWORK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MLOps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9C27B0"/>
                </a:solidFill>
                <a:latin typeface="Calibri"/>
              </a:defRPr>
            </a:pPr>
            <a:r>
              <a:t>90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Multiple Team Members</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Alessandro Bianchi</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leadership in MLOps and knowledge sharing"</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9C27B0"/>
                </a:solidFill>
                <a:latin typeface="Calibri"/>
              </a:defRPr>
            </a:pPr>
            <a:r>
              <a:t>MENTORSHIP · TECHNICAL EXCELLENCE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Cross-Team Impact</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FF9800"/>
                </a:solidFill>
                <a:latin typeface="Calibri"/>
              </a:defRPr>
            </a:pPr>
            <a:r>
              <a:t>52</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Yevhenii &amp; Others</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Pavlo Cherevko</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"Driving innovation in Chardonnay LiveOps"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FF9800"/>
                </a:solidFill>
                <a:latin typeface="Calibri"/>
              </a:defRPr>
            </a:pPr>
            <a:r>
              <a:t>INNOVATION · COLLABORATION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2196F3"/>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2196F3"/>
                </a:solidFill>
                <a:latin typeface="Calibri"/>
              </a:defRPr>
            </a:pPr>
            <a:r>
              <a:t>Alpine Adventures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Greetings from the Slopes!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"Our VP Engineering Dmitrii Rodionov is currently sending postcards from Austria with skiing vibes - proving that our distributed team knows how to balance hard work with mountain adventures!"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Dmitrii Rodionov</a:t>
            </a:r>
          </a:p>
        </p:txBody>
      </p:sp>
      <p:sp>
        <p:nvSpPr>
          <p:cNvPr id="8" name="TextBox 7"/>
          <p:cNvSpPr txBox="1"/>
          <p:nvPr/>
        </p:nvSpPr>
        <p:spPr>
          <a:xfrm>
            <a:off x="1097280" y="5212080"/>
            <a:ext cx="9966960" cy="365760"/>
          </a:xfrm>
          <a:prstGeom prst="rect">
            <a:avLst/>
          </a:prstGeom>
          <a:noFill/>
        </p:spPr>
        <p:txBody>
          <a:bodyPr wrap="square">
            <a:spAutoFit/>
          </a:bodyPr>
          <a:lstStyle/>
          <a:p>
            <a:pPr algn="l">
              <a:defRPr sz="1400" b="1" i="0">
                <a:solidFill>
                  <a:srgbClr val="2196F3"/>
                </a:solidFill>
                <a:latin typeface="Calibri"/>
              </a:defRPr>
            </a:pPr>
            <a:r>
              <a:t>77 team reactions</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#general-chat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Q1 Performance Strong</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4CAF50"/>
                </a:solidFill>
                <a:latin typeface="Calibri"/>
              </a:defRPr>
            </a:pPr>
            <a:r>
              <a:t>100%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Budget Achievement</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Revenue Targets Hit</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Q1 revenue is tracking exactly on budget, driven by strong performance from our ad networks. Market conditions remain stable, providing a solid foundation for continued growth.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AI Automation Breakthrough</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9C27B0"/>
                </a:solidFill>
                <a:latin typeface="Calibri"/>
              </a:defRPr>
            </a:pPr>
            <a:r>
              <a:t>100%</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automation</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AI Development Team</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Smart DSP Management Goes Live</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new AI agent prototype now automates bidder management tasks, reading DSP requests and applying changes automatically. This reduces manual workload for demand managers while maintaining full audit logs for security.</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"AI is transforming how we manage complex ad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Financial Flexibility</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FF9800"/>
                </a:solidFill>
                <a:latin typeface="Calibri"/>
              </a:defRPr>
            </a:pPr>
            <a:r>
              <a:t>$0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Outstanding Debt</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Strong Liquidity Position</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No outstanding borrowings and ample credit availability ensures we maintain financial flexibility without any associated costs. Deposit balances stable around $10-12 million.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3F51B5"/>
                </a:solidFill>
                <a:latin typeface="Calibri"/>
              </a:defRPr>
            </a:pPr>
            <a:r>
              <a:t>📚  EVENT</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3F51B5"/>
                </a:solidFill>
                <a:latin typeface="Calibri"/>
              </a:defRPr>
            </a:pPr>
            <a:r>
              <a:t>Book Club Success</a:t>
            </a:r>
          </a:p>
        </p:txBody>
      </p:sp>
      <p:sp>
        <p:nvSpPr>
          <p:cNvPr id="5" name="TextBox 4"/>
          <p:cNvSpPr txBox="1"/>
          <p:nvPr/>
        </p:nvSpPr>
        <p:spPr>
          <a:xfrm>
            <a:off x="1097280" y="2103120"/>
            <a:ext cx="9966960" cy="548640"/>
          </a:xfrm>
          <a:prstGeom prst="rect">
            <a:avLst/>
          </a:prstGeom>
          <a:noFill/>
        </p:spPr>
        <p:txBody>
          <a:bodyPr wrap="square">
            <a:spAutoFit/>
          </a:bodyPr>
          <a:lstStyle/>
          <a:p>
            <a:pPr algn="l">
              <a:defRPr sz="2200" b="1" i="0">
                <a:solidFill>
                  <a:srgbClr val="FFFFFF"/>
                </a:solidFill>
                <a:latin typeface="Calibri"/>
              </a:defRPr>
            </a:pPr>
            <a:r>
              <a:t>The 4 Disciplines of Execution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3F51B5"/>
                </a:solidFill>
                <a:latin typeface="Calibri"/>
              </a:defRPr>
            </a:pPr>
            <a:r>
              <a:t>Weekly Sessions</a:t>
            </a:r>
          </a:p>
        </p:txBody>
      </p:sp>
      <p:sp>
        <p:nvSpPr>
          <p:cNvPr id="7" name="TextBox 6"/>
          <p:cNvSpPr txBox="1"/>
          <p:nvPr/>
        </p:nvSpPr>
        <p:spPr>
          <a:xfrm>
            <a:off x="1097280" y="3291840"/>
            <a:ext cx="9966960" cy="1371600"/>
          </a:xfrm>
          <a:prstGeom prst="rect">
            <a:avLst/>
          </a:prstGeom>
          <a:noFill/>
        </p:spPr>
        <p:txBody>
          <a:bodyPr wrap="square">
            <a:spAutoFit/>
          </a:bodyPr>
          <a:lstStyle/>
          <a:p>
            <a:pPr algn="l">
              <a:defRPr sz="1500" b="0" i="0">
                <a:solidFill>
                  <a:srgbClr val="E2E2EA"/>
                </a:solidFill>
                <a:latin typeface="Calibri"/>
              </a:defRPr>
            </a:pPr>
            <a:r>
              <a:t>Our Chardonnay Book Club continues exploring execution excellence with 61 participants diving deep into leading vs lagging metrics. The focus on actionable insights is helping teams identify better predictive indicators.</a:t>
            </a:r>
          </a:p>
        </p:txBody>
      </p:sp>
      <p:sp>
        <p:nvSpPr>
          <p:cNvPr id="8" name="TextBox 7"/>
          <p:cNvSpPr txBox="1"/>
          <p:nvPr/>
        </p:nvSpPr>
        <p:spPr>
          <a:xfrm>
            <a:off x="1097280" y="5029200"/>
            <a:ext cx="9966960" cy="365760"/>
          </a:xfrm>
          <a:prstGeom prst="rect">
            <a:avLst/>
          </a:prstGeom>
          <a:noFill/>
        </p:spPr>
        <p:txBody>
          <a:bodyPr wrap="square">
            <a:spAutoFit/>
          </a:bodyPr>
          <a:lstStyle/>
          <a:p>
            <a:pPr algn="l">
              <a:defRPr sz="1300" b="0" i="0">
                <a:solidFill>
                  <a:srgbClr val="8F95A3"/>
                </a:solidFill>
                <a:latin typeface="Calibri"/>
              </a:defRPr>
            </a:pPr>
            <a:r>
              <a:t>Organized by Chardonnay Team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Gaming Portfolio Progress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E91E63"/>
                </a:solidFill>
                <a:latin typeface="Calibri"/>
              </a:defRPr>
            </a:pPr>
            <a:r>
              <a:t>2</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new launches</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Development Teams</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Block Mania &amp; Zad Ready for Launch</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Two exciting new game bundles are set to launch next week. The team has been optimizing campaigns and improving frequency capping to ensure strong performance from day one.</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"Strategic game launches driving revenue diversification"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Technical Innovation</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FF5722"/>
                </a:solidFill>
                <a:latin typeface="Calibri"/>
              </a:defRPr>
            </a:pPr>
            <a:r>
              <a:t>90%</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compatibility</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Engineering Teams</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New Rendering Templates Rolling Out</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phased rollout strategy for the new template system is progressing well. Both old and new rendering systems operate simultaneously for smooth transition, with 10% of traffic from varied SDK versions selected for testing.</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"Smart deployment strategies minimize risk while accelerating innovation"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Global Partnership Expansion</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4CAF50"/>
                </a:solidFill>
                <a:latin typeface="Calibri"/>
              </a:defRPr>
            </a:pPr>
            <a:r>
              <a:t>2</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Major Markets</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Strategic Integration Success</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New partnership integration with Trebel shows strong progress. Bid Machine continues outgrowing Appodeal, with unified mediation increasing access to SSPs across US and Mexico markets.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673AB7"/>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673AB7"/>
                </a:solidFill>
                <a:latin typeface="Calibri"/>
              </a:defRPr>
            </a:pPr>
            <a:r>
              <a:t>Data Science Excellence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673AB7"/>
                </a:solidFill>
                <a:latin typeface="Calibri"/>
              </a:defRPr>
            </a:pPr>
            <a:r>
              <a:t>25%</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vs 6%</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Vector Analytics Community</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Advanced Model Analysis Framework</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Developed sophisticated comparative metrics for bidding performance evaluation, including feature drift analysis using PSI. The team identified significant platform differences - iOS serving at 25% vs 6% in training data.</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"Granular analysis drives better model performance"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WEEKLY RITUAL</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Innovation Momentum</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Building the Future Together</a:t>
            </a:r>
          </a:p>
        </p:txBody>
      </p:sp>
      <p:sp>
        <p:nvSpPr>
          <p:cNvPr id="6" name="TextBox 5"/>
          <p:cNvSpPr txBox="1"/>
          <p:nvPr/>
        </p:nvSpPr>
        <p:spPr>
          <a:xfrm>
            <a:off x="1371600" y="2926080"/>
            <a:ext cx="9418320" cy="548640"/>
          </a:xfrm>
          <a:prstGeom prst="rect">
            <a:avLst/>
          </a:prstGeom>
          <a:noFill/>
        </p:spPr>
        <p:txBody>
          <a:bodyPr wrap="square">
            <a:spAutoFit/>
          </a:bodyPr>
          <a:lstStyle/>
          <a:p>
            <a:pPr algn="l">
              <a:defRPr sz="1400" b="0" i="0">
                <a:solidFill>
                  <a:srgbClr val="E2E2EA"/>
                </a:solidFill>
                <a:latin typeface="Calibri"/>
              </a:defRPr>
            </a:pPr>
            <a:r>
              <a:t>What's the most exciting technical challenge you're tackling this week?</a:t>
            </a:r>
          </a:p>
        </p:txBody>
      </p:sp>
      <p:sp>
        <p:nvSpPr>
          <p:cNvPr id="7" name="TextBox 6"/>
          <p:cNvSpPr txBox="1"/>
          <p:nvPr/>
        </p:nvSpPr>
        <p:spPr>
          <a:xfrm>
            <a:off x="1371600" y="3657600"/>
            <a:ext cx="9418320" cy="548640"/>
          </a:xfrm>
          <a:prstGeom prst="rect">
            <a:avLst/>
          </a:prstGeom>
          <a:noFill/>
        </p:spPr>
        <p:txBody>
          <a:bodyPr wrap="square">
            <a:spAutoFit/>
          </a:bodyPr>
          <a:lstStyle/>
          <a:p>
            <a:pPr algn="l">
              <a:defRPr sz="1400" b="0" i="0">
                <a:solidFill>
                  <a:srgbClr val="E2E2EA"/>
                </a:solidFill>
                <a:latin typeface="Calibri"/>
              </a:defRPr>
            </a:pPr>
            <a:r>
              <a:t>How are you using data to drive better decisions in your role?</a:t>
            </a:r>
          </a:p>
        </p:txBody>
      </p:sp>
      <p:sp>
        <p:nvSpPr>
          <p:cNvPr id="8" name="TextBox 7"/>
          <p:cNvSpPr txBox="1"/>
          <p:nvPr/>
        </p:nvSpPr>
        <p:spPr>
          <a:xfrm>
            <a:off x="1097280" y="4754880"/>
            <a:ext cx="9966960" cy="731520"/>
          </a:xfrm>
          <a:prstGeom prst="rect">
            <a:avLst/>
          </a:prstGeom>
          <a:noFill/>
        </p:spPr>
        <p:txBody>
          <a:bodyPr wrap="square">
            <a:spAutoFit/>
          </a:bodyPr>
          <a:lstStyle/>
          <a:p>
            <a:pPr algn="l">
              <a:defRPr sz="1500" b="0" i="1">
                <a:solidFill>
                  <a:srgbClr val="E2E2EA"/>
                </a:solidFill>
                <a:latin typeface="Calibri"/>
              </a:defRPr>
            </a:pPr>
            <a:r>
              <a:t>We BUILD innovative solutions that SERVE our global community</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Company-wide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