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Tuesday, March 24,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E91E63"/>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E91E63"/>
                </a:solidFill>
                <a:latin typeface="Calibri"/>
              </a:defRPr>
            </a:pPr>
            <a:r>
              <a:t>Birthday Wishes</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Darya Ashurkevich</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Happy Birthday!</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Thank you all for the wonderful birthday wishes! Your kind messages mean so much to me. 💜</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E91E63"/>
                </a:solidFill>
                <a:latin typeface="Calibri"/>
              </a:defRPr>
            </a:pPr>
            <a:r>
              <a:t>ASO TL | Chardonnay | Barcelona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9C27B0"/>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9C27B0"/>
                </a:solidFill>
                <a:latin typeface="Calibri"/>
              </a:defRPr>
            </a:pPr>
            <a:r>
              <a:t>Birthday Celebration</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Pavel Savinskiy</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Happy Birthday!</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9C27B0"/>
                </a:solidFill>
                <a:latin typeface="Calibri"/>
              </a:defRPr>
            </a:pPr>
            <a:r>
              <a:t>Head of Design and Creative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2196F3"/>
                </a:solidFill>
                <a:latin typeface="Calibri"/>
              </a:defRPr>
            </a:pPr>
            <a:r>
              <a:t>🤖  NEW TEAMMATE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2196F3"/>
                </a:solidFill>
                <a:latin typeface="Calibri"/>
              </a:defRPr>
            </a:pPr>
            <a:r>
              <a:t>AI &amp; Automation Specialist Joins</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Roman Loboda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1" i="0">
                <a:solidFill>
                  <a:srgbClr val="2196F3"/>
                </a:solidFill>
                <a:latin typeface="Calibri"/>
              </a:defRPr>
            </a:pPr>
            <a:r>
              <a:t>AI &amp; Automation Analyst · IT team, Parkland office</a:t>
            </a:r>
          </a:p>
        </p:txBody>
      </p:sp>
      <p:sp>
        <p:nvSpPr>
          <p:cNvPr id="7" name="TextBox 6"/>
          <p:cNvSpPr txBox="1"/>
          <p:nvPr/>
        </p:nvSpPr>
        <p:spPr>
          <a:xfrm>
            <a:off x="1097280" y="3383280"/>
            <a:ext cx="9966960" cy="1371600"/>
          </a:xfrm>
          <a:prstGeom prst="rect">
            <a:avLst/>
          </a:prstGeom>
          <a:noFill/>
        </p:spPr>
        <p:txBody>
          <a:bodyPr wrap="square">
            <a:spAutoFit/>
          </a:bodyPr>
          <a:lstStyle/>
          <a:p>
            <a:pPr algn="l">
              <a:defRPr sz="1500" b="0" i="1">
                <a:solidFill>
                  <a:srgbClr val="E2E2EA"/>
                </a:solidFill>
                <a:latin typeface="Calibri"/>
              </a:defRPr>
            </a:pPr>
            <a:r>
              <a:t>"I'm excited to join Appodeal working with Pavel. My background is in software engineering and startups, focused on using AI and automation to reduce manual work, organize messy processes, and make operations run more efficiently."</a:t>
            </a:r>
          </a:p>
        </p:txBody>
      </p:sp>
      <p:sp>
        <p:nvSpPr>
          <p:cNvPr id="8" name="TextBox 7"/>
          <p:cNvSpPr txBox="1"/>
          <p:nvPr/>
        </p:nvSpPr>
        <p:spPr>
          <a:xfrm>
            <a:off x="1097280" y="5303520"/>
            <a:ext cx="9966960" cy="457200"/>
          </a:xfrm>
          <a:prstGeom prst="rect">
            <a:avLst/>
          </a:prstGeom>
          <a:noFill/>
        </p:spPr>
        <p:txBody>
          <a:bodyPr wrap="square">
            <a:spAutoFit/>
          </a:bodyPr>
          <a:lstStyle/>
          <a:p>
            <a:pPr algn="l">
              <a:defRPr sz="1800" b="0" i="0">
                <a:solidFill>
                  <a:srgbClr val="8F95A3"/>
                </a:solidFill>
                <a:latin typeface="Calibri"/>
              </a:defRPr>
            </a:pPr>
            <a:r>
              <a:t>👋 Welcome aboard!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5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5722"/>
                </a:solidFill>
                <a:latin typeface="Calibri"/>
              </a:defRPr>
            </a:pPr>
            <a:r>
              <a:t>🏗️  NEW TEAMMATE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5722"/>
                </a:solidFill>
                <a:latin typeface="Calibri"/>
              </a:defRPr>
            </a:pPr>
            <a:r>
              <a:t>Senior Solution Architect Onboard</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Shayan Manouchehri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1" i="0">
                <a:solidFill>
                  <a:srgbClr val="FF5722"/>
                </a:solidFill>
                <a:latin typeface="Calibri"/>
              </a:defRPr>
            </a:pPr>
            <a:r>
              <a:t>Senior Solution Architect · Exchange team</a:t>
            </a:r>
          </a:p>
        </p:txBody>
      </p:sp>
      <p:sp>
        <p:nvSpPr>
          <p:cNvPr id="7" name="TextBox 6"/>
          <p:cNvSpPr txBox="1"/>
          <p:nvPr/>
        </p:nvSpPr>
        <p:spPr>
          <a:xfrm>
            <a:off x="1097280" y="3383280"/>
            <a:ext cx="9966960" cy="1371600"/>
          </a:xfrm>
          <a:prstGeom prst="rect">
            <a:avLst/>
          </a:prstGeom>
          <a:noFill/>
        </p:spPr>
        <p:txBody>
          <a:bodyPr wrap="square">
            <a:spAutoFit/>
          </a:bodyPr>
          <a:lstStyle/>
          <a:p>
            <a:pPr algn="l">
              <a:defRPr sz="1500" b="0" i="1">
                <a:solidFill>
                  <a:srgbClr val="E2E2EA"/>
                </a:solidFill>
                <a:latin typeface="Calibri"/>
              </a:defRPr>
            </a:pPr>
            <a:r>
              <a:t>"I'm super excited to join the team! I'm from Barcelona and spent the last few years at Criteo. I'm really looking forward to getting started and learning from all of you. I'm a proud cat owner and love exploring the city!"</a:t>
            </a:r>
          </a:p>
        </p:txBody>
      </p:sp>
      <p:sp>
        <p:nvSpPr>
          <p:cNvPr id="8" name="TextBox 7"/>
          <p:cNvSpPr txBox="1"/>
          <p:nvPr/>
        </p:nvSpPr>
        <p:spPr>
          <a:xfrm>
            <a:off x="1097280" y="5303520"/>
            <a:ext cx="9966960" cy="457200"/>
          </a:xfrm>
          <a:prstGeom prst="rect">
            <a:avLst/>
          </a:prstGeom>
          <a:noFill/>
        </p:spPr>
        <p:txBody>
          <a:bodyPr wrap="square">
            <a:spAutoFit/>
          </a:bodyPr>
          <a:lstStyle/>
          <a:p>
            <a:pPr algn="l">
              <a:defRPr sz="1800" b="0" i="0">
                <a:solidFill>
                  <a:srgbClr val="8F95A3"/>
                </a:solidFill>
                <a:latin typeface="Calibri"/>
              </a:defRPr>
            </a:pPr>
            <a:r>
              <a:t>👋 Welcome aboard!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4CAF50"/>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4CAF50"/>
                </a:solidFill>
                <a:latin typeface="Calibri"/>
              </a:defRPr>
            </a:pPr>
            <a:r>
              <a:t>Data Excellence</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4CAF50"/>
                </a:solidFill>
                <a:latin typeface="Calibri"/>
              </a:defRPr>
            </a:pPr>
            <a:r>
              <a:t>10×</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Iurii Kotov</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Herman Krahotkin</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"Outstanding data engineering work that drives our analytics forward"</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4CAF50"/>
                </a:solidFill>
                <a:latin typeface="Calibri"/>
              </a:defRPr>
            </a:pPr>
            <a:r>
              <a:t>Technical Excellence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9C27B0"/>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9C27B0"/>
                </a:solidFill>
                <a:latin typeface="Calibri"/>
              </a:defRPr>
            </a:pPr>
            <a:r>
              <a:t>Data Science Impact</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9C27B0"/>
                </a:solidFill>
                <a:latin typeface="Calibri"/>
              </a:defRPr>
            </a:pPr>
            <a:r>
              <a:t>10×</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Vladimir Samoylov</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Kseniia Maiorova</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"Exceptional data science contributions that advance our ML capabilities"</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9C27B0"/>
                </a:solidFill>
                <a:latin typeface="Calibri"/>
              </a:defRPr>
            </a:pPr>
            <a:r>
              <a:t>Innovation · Excellence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9800"/>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9800"/>
                </a:solidFill>
                <a:latin typeface="Calibri"/>
              </a:defRPr>
            </a:pPr>
            <a:r>
              <a:t>Team Excellence</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FF9800"/>
                </a:solidFill>
                <a:latin typeface="Calibri"/>
              </a:defRPr>
            </a:pPr>
            <a:r>
              <a:t>3×</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Alexandr Zhitlukhin</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Francesco, ArtKip, Agustin, Sergio-Yersi, Villegas, Maxim, Sinyaev, Andrey, Chuprov, Baptiste, Poirier, Artem, Pchelintsev</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"Outstanding collaborative effort across multiple teams delivering exceptional results"</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FF9800"/>
                </a:solidFill>
                <a:latin typeface="Calibri"/>
              </a:defRPr>
            </a:pPr>
            <a:r>
              <a:t>Teamwork · Delivery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3F51B5"/>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3F51B5"/>
                </a:solidFill>
                <a:latin typeface="Calibri"/>
              </a:defRPr>
            </a:pPr>
            <a:r>
              <a:t>Cross-Team Success</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3F51B5"/>
                </a:solidFill>
                <a:latin typeface="Calibri"/>
              </a:defRPr>
            </a:pPr>
            <a:r>
              <a:t>5×</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Alexandr Zhitlukhin</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Gleb Krahotkin, Isahakyan, Maria Plendukova, Mykhailo Kukharskyi, Sasha Sakovich</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"Excellent cross-functional collaboration driving product and engineering excellence"</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3F51B5"/>
                </a:solidFill>
                <a:latin typeface="Calibri"/>
              </a:defRPr>
            </a:pPr>
            <a:r>
              <a:t>Collaboration · Innovation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4CAF50"/>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4CAF50"/>
                </a:solidFill>
                <a:latin typeface="Calibri"/>
              </a:defRPr>
            </a:pPr>
            <a:r>
              <a:t>AI Onboarding Excellence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4CAF50"/>
                </a:solidFill>
                <a:latin typeface="Calibri"/>
              </a:defRPr>
            </a:pPr>
            <a:r>
              <a:t>1 Week</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Onboarding Target</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Structured AI Team Integration</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New AI &amp; Automation Analysts are following our comprehensive onboarding protocol — weekly leadership updates, gradual GitHub integration, and real-time dashboard access for immediate productivity.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2196F3"/>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2196F3"/>
                </a:solidFill>
                <a:latin typeface="Calibri"/>
              </a:defRPr>
            </a:pPr>
            <a:r>
              <a:t>MGP Exchange Momentum</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2196F3"/>
                </a:solidFill>
                <a:latin typeface="Calibri"/>
              </a:defRPr>
            </a:pPr>
            <a:r>
              <a:t>80%</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target house rate</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MGP Leadership</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Q2 Roadmap Taking Shape</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MGP team driving toward 80% house rate while finalizing Q2 PRDs focused on platform development, data quality, AI agents, and runtime support. Strong exchange net revenue performance continues.</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"Strategic focus on key results accountability driving measurable progress"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E91E63"/>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E91E63"/>
                </a:solidFill>
                <a:latin typeface="Calibri"/>
              </a:defRPr>
            </a:pPr>
            <a:r>
              <a:t>Gaming Performance Surge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E91E63"/>
                </a:solidFill>
                <a:latin typeface="Calibri"/>
              </a:defRPr>
            </a:pPr>
            <a:r>
              <a:t>$150k</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Weekly Spend</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Minesweeper Scaling Success</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User acquisition hitting $150k weekly spend with impressive 240% ROAS. Strong creative performance and stable efficiency ratios demonstrate our gaming division's momentum.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9800"/>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9800"/>
                </a:solidFill>
                <a:latin typeface="Calibri"/>
              </a:defRPr>
            </a:pPr>
            <a:r>
              <a:t>Rewarded Games Innovation</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FF9800"/>
                </a:solidFill>
                <a:latin typeface="Calibri"/>
              </a:defRPr>
            </a:pPr>
            <a:r>
              <a:t>$3</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revenue per $2 ad spend</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Bear Hug Partnership</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Enhanced ROI Model Validated</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Rewarded games model showing strong results with $2 ad spend yielding $3 revenue. Players earn vouchers for milestones while we share ad revenue as loyalty rewards.</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"New monetization approach improving user acquisition costs and engagement"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9C27B0"/>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9C27B0"/>
                </a:solidFill>
                <a:latin typeface="Calibri"/>
              </a:defRPr>
            </a:pPr>
            <a:r>
              <a:t>Operational Streamlining</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9C27B0"/>
                </a:solidFill>
                <a:latin typeface="Calibri"/>
              </a:defRPr>
            </a:pPr>
            <a:r>
              <a:t>&lt;5%</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Payment Variance</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Payment Pipeline Automation</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Multi-stage payment pipeline successfully aggregating daily data across internal and external systems. Manual reconciliation maintaining under 5% variance while automation testing progresses.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4CAF50"/>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4CAF50"/>
                </a:solidFill>
                <a:latin typeface="Calibri"/>
              </a:defRPr>
            </a:pPr>
            <a:r>
              <a:t>Chardonnay Q1 Success</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4CAF50"/>
                </a:solidFill>
                <a:latin typeface="Calibri"/>
              </a:defRPr>
            </a:pPr>
            <a:r>
              <a:t>30%</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profit increase</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Chardonnay Team</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Strong Quarter Performance</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Team health rate over 80% with Q1 profit increased by 30%. March delivered additional $12k profit while maintaining focus on automation and GitHub activity tracking.</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"Healthy growth trajectory setting foundation for Q2 maintenance initiatives"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607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607D8B"/>
                </a:solidFill>
                <a:latin typeface="Calibri"/>
              </a:defRPr>
            </a:pPr>
            <a:r>
              <a:t>🏢  EVENT</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607D8B"/>
                </a:solidFill>
                <a:latin typeface="Calibri"/>
              </a:defRPr>
            </a:pPr>
            <a:r>
              <a:t>Communication Update</a:t>
            </a:r>
          </a:p>
        </p:txBody>
      </p:sp>
      <p:sp>
        <p:nvSpPr>
          <p:cNvPr id="5" name="TextBox 4"/>
          <p:cNvSpPr txBox="1"/>
          <p:nvPr/>
        </p:nvSpPr>
        <p:spPr>
          <a:xfrm>
            <a:off x="1097280" y="2103120"/>
            <a:ext cx="9966960" cy="548640"/>
          </a:xfrm>
          <a:prstGeom prst="rect">
            <a:avLst/>
          </a:prstGeom>
          <a:noFill/>
        </p:spPr>
        <p:txBody>
          <a:bodyPr wrap="square">
            <a:spAutoFit/>
          </a:bodyPr>
          <a:lstStyle/>
          <a:p>
            <a:pPr algn="l">
              <a:defRPr sz="2200" b="1" i="0">
                <a:solidFill>
                  <a:srgbClr val="FFFFFF"/>
                </a:solidFill>
                <a:latin typeface="Calibri"/>
              </a:defRPr>
            </a:pPr>
            <a:r>
              <a:t>Newcomer Introductions Channel</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1" i="0">
                <a:solidFill>
                  <a:srgbClr val="607D8B"/>
                </a:solidFill>
                <a:latin typeface="Calibri"/>
              </a:defRPr>
            </a:pPr>
            <a:r>
              <a:t>Starting Tomorrow</a:t>
            </a:r>
          </a:p>
        </p:txBody>
      </p:sp>
      <p:sp>
        <p:nvSpPr>
          <p:cNvPr id="7" name="TextBox 6"/>
          <p:cNvSpPr txBox="1"/>
          <p:nvPr/>
        </p:nvSpPr>
        <p:spPr>
          <a:xfrm>
            <a:off x="1097280" y="3291840"/>
            <a:ext cx="9966960" cy="1371600"/>
          </a:xfrm>
          <a:prstGeom prst="rect">
            <a:avLst/>
          </a:prstGeom>
          <a:noFill/>
        </p:spPr>
        <p:txBody>
          <a:bodyPr wrap="square">
            <a:spAutoFit/>
          </a:bodyPr>
          <a:lstStyle/>
          <a:p>
            <a:pPr algn="l">
              <a:defRPr sz="1500" b="0" i="0">
                <a:solidFill>
                  <a:srgbClr val="E2E2EA"/>
                </a:solidFill>
                <a:latin typeface="Calibri"/>
              </a:defRPr>
            </a:pPr>
            <a:r>
              <a:t>All newcomer introductions will be shared in the dedicated channel to keep general communication clean and ensure important updates don't get lost. Every newcomer remains a valued part of our growing team.</a:t>
            </a:r>
          </a:p>
        </p:txBody>
      </p:sp>
      <p:sp>
        <p:nvSpPr>
          <p:cNvPr id="8" name="TextBox 7"/>
          <p:cNvSpPr txBox="1"/>
          <p:nvPr/>
        </p:nvSpPr>
        <p:spPr>
          <a:xfrm>
            <a:off x="1097280" y="5029200"/>
            <a:ext cx="9966960" cy="365760"/>
          </a:xfrm>
          <a:prstGeom prst="rect">
            <a:avLst/>
          </a:prstGeom>
          <a:noFill/>
        </p:spPr>
        <p:txBody>
          <a:bodyPr wrap="square">
            <a:spAutoFit/>
          </a:bodyPr>
          <a:lstStyle/>
          <a:p>
            <a:pPr algn="l">
              <a:defRPr sz="1300" b="0" i="0">
                <a:solidFill>
                  <a:srgbClr val="8F95A3"/>
                </a:solidFill>
                <a:latin typeface="Calibri"/>
              </a:defRPr>
            </a:pPr>
            <a:r>
              <a:t>Organized by Olga Petriakova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BCD4"/>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BCD4"/>
                </a:solidFill>
                <a:latin typeface="Calibri"/>
              </a:defRPr>
            </a:pPr>
            <a:r>
              <a:t>Family Strength</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Community Support During Challenges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"Thank you everyone who supported me over this last week. My daughter is recovering at home and expected to recover completely. I'm feeling better but taking it one day at a time."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212080"/>
            <a:ext cx="9966960" cy="365760"/>
          </a:xfrm>
          <a:prstGeom prst="rect">
            <a:avLst/>
          </a:prstGeom>
          <a:noFill/>
        </p:spPr>
        <p:txBody>
          <a:bodyPr wrap="square">
            <a:spAutoFit/>
          </a:bodyPr>
          <a:lstStyle/>
          <a:p>
            <a:pPr algn="l">
              <a:defRPr sz="1400" b="1" i="0">
                <a:solidFill>
                  <a:srgbClr val="00BCD4"/>
                </a:solidFill>
                <a:latin typeface="Calibri"/>
              </a:defRPr>
            </a:pPr>
            <a:r>
              <a:t>144 hearts, prayers, and hugs from the team</a:t>
            </a:r>
          </a:p>
        </p:txBody>
      </p:sp>
      <p:sp>
        <p:nvSpPr>
          <p:cNvPr id="9" name="TextBox 8"/>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673AB7"/>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673AB7"/>
                </a:solidFill>
                <a:latin typeface="Calibri"/>
              </a:defRPr>
            </a:pPr>
            <a:r>
              <a:t>AI-First Operations</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673AB7"/>
                </a:solidFill>
                <a:latin typeface="Calibri"/>
              </a:defRPr>
            </a:pPr>
            <a:r>
              <a:t>5-10</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AI Agents per Employee</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Every Employee Managing AI Agents</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Strategic vision accelerating toward reality — each team member will manage 5-10 AI agents within 3-6 months. Our OKR Auditor already checks 1,000+ individual OKRs daily while Daria AI Bot saves $4k weekly analyzing app reviews.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5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5722"/>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5722"/>
                </a:solidFill>
                <a:latin typeface="Calibri"/>
              </a:defRPr>
            </a:pPr>
            <a:r>
              <a:t>Gaming Profitability Achievement</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FF5722"/>
                </a:solidFill>
                <a:latin typeface="Calibri"/>
              </a:defRPr>
            </a:pPr>
            <a:r>
              <a:t>61%</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retention rate</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Gaming Division</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Infinite Minesweeper Exceeds Benchmarks</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Gaming division achieved profitability in 2025 with Infinite Minesweeper hitting 61% retention (Apple benchmark ERA: 151-160%). Solitaire v540 showing +21.67% D7 retention improvement.</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"Strategic product optimization delivering measurable user engagement gains"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795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795548"/>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795548"/>
                </a:solidFill>
                <a:latin typeface="Calibri"/>
              </a:defRPr>
            </a:pPr>
            <a:r>
              <a:t>Fraud Prevention Success</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795548"/>
                </a:solidFill>
                <a:latin typeface="Calibri"/>
              </a:defRPr>
            </a:pPr>
            <a:r>
              <a:t>4%</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Current Fraud Rate</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Dynamic Security Reduces Risk</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Fraud dramatically reduced from 22% to under 4% through implementation of dynamic SDK signatures. This security enhancement protects revenue while maintaining user experience quality.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9688"/>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9688"/>
                </a:solidFill>
                <a:latin typeface="Calibri"/>
              </a:defRPr>
            </a:pPr>
            <a:r>
              <a:t>Sales Team Momentum</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009688"/>
                </a:solidFill>
                <a:latin typeface="Calibri"/>
              </a:defRPr>
            </a:pPr>
            <a:r>
              <a:t>$390k</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net revenue</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Sales Division</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Strong Weekly Performance</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Sales team closed 8 deals generating $390k net revenue in a single week, demonstrating strong market traction and effective client relationship management.</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"Consistent execution driving revenue growth across multiple client segments"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