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8288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5C6270"/>
                </a:solidFill>
                <a:latin typeface="Calibri"/>
              </a:defRPr>
            </a:pPr>
            <a:r>
              <a:t>APPODEAL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468880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 i="0">
                <a:solidFill>
                  <a:srgbClr val="FFFFFF"/>
                </a:solidFill>
                <a:latin typeface="Calibri"/>
              </a:defRPr>
            </a:pPr>
            <a:r>
              <a:t>PULSE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840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8F95A3"/>
                </a:solidFill>
                <a:latin typeface="Calibri"/>
              </a:defRPr>
            </a:pPr>
            <a:r>
              <a:t>Thursday, March 12,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4572000"/>
            <a:ext cx="2103120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6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6B9D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6B9D"/>
                </a:solidFill>
                <a:latin typeface="Calibri"/>
              </a:defRPr>
            </a:pPr>
            <a:r>
              <a:t>Birthday Stars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Alexandr Sikorsky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12th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Thanks guys, all of you, for the warm wishes! 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6B9D"/>
                </a:solidFill>
                <a:latin typeface="Calibri"/>
              </a:defRPr>
            </a:pPr>
            <a:r>
              <a:t>Our amazing team member is celebrating today!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4A90E2"/>
                </a:solidFill>
                <a:latin typeface="Calibri"/>
              </a:defRPr>
            </a:pPr>
            <a:r>
              <a:t>🚀 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4A90E2"/>
                </a:solidFill>
                <a:latin typeface="Calibri"/>
              </a:defRPr>
            </a:pPr>
            <a:r>
              <a:t>DevOps 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 i="0">
                <a:solidFill>
                  <a:srgbClr val="4A90E2"/>
                </a:solidFill>
                <a:latin typeface="Calibri"/>
              </a:defRPr>
            </a:pPr>
            <a: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834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F95A3"/>
                </a:solidFill>
                <a:latin typeface="Calibri"/>
              </a:defRPr>
            </a:pPr>
            <a:r>
              <a:t>rocket reactions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by Gleb Krahotkin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840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Coolify Launch Success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38912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Introduced Coolify - a service that allows you to deploy your applications in just a few clicks, complete with comprehensive documentation.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8F95A3"/>
                </a:solidFill>
                <a:latin typeface="Calibri"/>
              </a:defRPr>
            </a:pPr>
            <a:r>
              <a:t>💬 "Making deployment accessible to everyone with one-click simplicity"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9B59B6"/>
                </a:solidFill>
                <a:latin typeface="Calibri"/>
              </a:defRPr>
            </a:pPr>
            <a:r>
              <a:t>📚  EVENT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9B59B6"/>
                </a:solidFill>
                <a:latin typeface="Calibri"/>
              </a:defRPr>
            </a:pPr>
            <a:r>
              <a:t>Learning Initiative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Calibri"/>
              </a:defRPr>
            </a:pPr>
            <a:r>
              <a:t>The 4 Disciplines of Execution Book Club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9B59B6"/>
                </a:solidFill>
                <a:latin typeface="Calibri"/>
              </a:defRPr>
            </a:pPr>
            <a:r>
              <a:t>Starting 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E2E2EA"/>
                </a:solidFill>
                <a:latin typeface="Calibri"/>
              </a:defRPr>
            </a:pPr>
            <a:r>
              <a:t>Anna is leading a reading club focused on Wildly Important Goals (WIGs), Leading and Lagging Metrics, Scorecards, and Follow-through execution discipline.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029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8F95A3"/>
                </a:solidFill>
                <a:latin typeface="Calibri"/>
              </a:defRPr>
            </a:pPr>
            <a:r>
              <a:t>Organized by Anna &amp; Pavel Golubev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E67E22"/>
                </a:solidFill>
                <a:latin typeface="Calibri"/>
              </a:defRPr>
            </a:pPr>
            <a:r>
              <a:t>🎓  WEEKLY RITUAL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E67E22"/>
                </a:solidFill>
                <a:latin typeface="Calibri"/>
              </a:defRPr>
            </a:pPr>
            <a:r>
              <a:t>Knowledge Sharing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11th Lunch &amp; Learn Complete!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92608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Big thank you to Timofey Levanov for his presentation on fraud traffic detection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65760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Recording and materials now available for the whole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75488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Continuous learning and knowledge sharing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76072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5C6270"/>
                </a:solidFill>
                <a:latin typeface="Calibri"/>
              </a:defRPr>
            </a:pPr>
            <a:r>
              <a:t>#general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27AE60"/>
                </a:solidFill>
                <a:latin typeface="Calibri"/>
              </a:defRPr>
            </a:pPr>
            <a:r>
              <a:t>👏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27AE60"/>
                </a:solidFill>
                <a:latin typeface="Calibri"/>
              </a:defRPr>
            </a:pPr>
            <a:r>
              <a:t>Team Recognition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27AE60"/>
                </a:solidFill>
                <a:latin typeface="Calibri"/>
              </a:defRPr>
            </a:pPr>
            <a: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pavel.savinskiy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sergeydesigner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"Outstanding design work that made a real impact"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7AE60"/>
                </a:solidFill>
                <a:latin typeface="Calibri"/>
              </a:defRPr>
            </a:pPr>
            <a:r>
              <a:t>Excellence · Creativity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27AE60"/>
                </a:solidFill>
                <a:latin typeface="Calibri"/>
              </a:defRPr>
            </a:pPr>
            <a:r>
              <a:t>🙌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27AE60"/>
                </a:solidFill>
                <a:latin typeface="Calibri"/>
              </a:defRPr>
            </a:pPr>
            <a:r>
              <a:t>Technical Excellence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27AE60"/>
                </a:solidFill>
                <a:latin typeface="Calibri"/>
              </a:defRPr>
            </a:pPr>
            <a: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Sem Sinchenko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Ildar Fatykhov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"Exceptional technical contribution and problem-solving"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7AE60"/>
                </a:solidFill>
                <a:latin typeface="Calibri"/>
              </a:defRPr>
            </a:pPr>
            <a:r>
              <a:t>Technical Excellence · Innovation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27AE60"/>
                </a:solidFill>
                <a:latin typeface="Calibri"/>
              </a:defRPr>
            </a:pPr>
            <a:r>
              <a:t>🎯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27AE60"/>
                </a:solidFill>
                <a:latin typeface="Calibri"/>
              </a:defRPr>
            </a:pPr>
            <a:r>
              <a:t>Leadership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27AE60"/>
                </a:solidFill>
                <a:latin typeface="Calibri"/>
              </a:defRPr>
            </a:pPr>
            <a: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Anastasia Sokolova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Sasha Sakovich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"Strong leadership and team guidance"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7AE60"/>
                </a:solidFill>
                <a:latin typeface="Calibri"/>
              </a:defRPr>
            </a:pPr>
            <a:r>
              <a:t>Leadership · Mentorship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27AE60"/>
                </a:solidFill>
                <a:latin typeface="Calibri"/>
              </a:defRPr>
            </a:pPr>
            <a:r>
              <a:t>🔧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27AE60"/>
                </a:solidFill>
                <a:latin typeface="Calibri"/>
              </a:defRPr>
            </a:pPr>
            <a:r>
              <a:t>DevOps Recognition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27AE60"/>
                </a:solidFill>
                <a:latin typeface="Calibri"/>
              </a:defRPr>
            </a:pPr>
            <a: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Gleb Krahotkin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Hierman Pelekh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"Excellent infrastructure and deployment solutions"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7AE60"/>
                </a:solidFill>
                <a:latin typeface="Calibri"/>
              </a:defRPr>
            </a:pPr>
            <a:r>
              <a:t>Technical Excellence · Reliability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27AE60"/>
                </a:solidFill>
                <a:latin typeface="Calibri"/>
              </a:defRPr>
            </a:pPr>
            <a:r>
              <a:t>💪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27AE60"/>
                </a:solidFill>
                <a:latin typeface="Calibri"/>
              </a:defRPr>
            </a:pPr>
            <a:r>
              <a:t>Quality Focus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27AE60"/>
                </a:solidFill>
                <a:latin typeface="Calibri"/>
              </a:defRPr>
            </a:pPr>
            <a: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Dima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Irina Koval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"Exceptional attention to detail and quality assurance"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7AE60"/>
                </a:solidFill>
                <a:latin typeface="Calibri"/>
              </a:defRPr>
            </a:pPr>
            <a:r>
              <a:t>Quality · Excellence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27AE60"/>
                </a:solidFill>
                <a:latin typeface="Calibri"/>
              </a:defRPr>
            </a:pPr>
            <a:r>
              <a:t>🎨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27AE60"/>
                </a:solidFill>
                <a:latin typeface="Calibri"/>
              </a:defRPr>
            </a:pPr>
            <a:r>
              <a:t>Creative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27AE60"/>
                </a:solidFill>
                <a:latin typeface="Calibri"/>
              </a:defRPr>
            </a:pPr>
            <a: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Roman Rinchinov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Vasyl Plesiuk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"Outstanding creative solutions and collaboration"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7AE60"/>
                </a:solidFill>
                <a:latin typeface="Calibri"/>
              </a:defRPr>
            </a:pPr>
            <a:r>
              <a:t>Creativity · Teamwork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8E44AD"/>
                </a:solidFill>
                <a:latin typeface="Calibri"/>
              </a:defRPr>
            </a:pPr>
            <a:r>
              <a:t>📈  MILESTONE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8E44AD"/>
                </a:solidFill>
                <a:latin typeface="Calibri"/>
              </a:defRPr>
            </a:pPr>
            <a:r>
              <a:t>Company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 i="0">
                <a:solidFill>
                  <a:srgbClr val="8E44AD"/>
                </a:solidFill>
                <a:latin typeface="Calibri"/>
              </a:defRPr>
            </a:pPr>
            <a:r>
              <a:t>40%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926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F95A3"/>
                </a:solidFill>
                <a:latin typeface="Calibri"/>
              </a:defRPr>
            </a:pPr>
            <a:r>
              <a:t>YoY Growth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56616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40% Year-over-Year Growth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E2E2EA"/>
                </a:solidFill>
                <a:latin typeface="Calibri"/>
              </a:defRPr>
            </a:pPr>
            <a:r>
              <a:t>Appodeal continues its impressive trajectory with $100M gross profit and $20M EBITDA, positioning us for our ambitious $50B vision.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E74C3C"/>
                </a:solidFill>
                <a:latin typeface="Calibri"/>
              </a:defRPr>
            </a:pPr>
            <a:r>
              <a:t>🎮 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E74C3C"/>
                </a:solidFill>
                <a:latin typeface="Calibri"/>
              </a:defRPr>
            </a:pPr>
            <a:r>
              <a:t>Gaming Milestone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 i="0">
                <a:solidFill>
                  <a:srgbClr val="E74C3C"/>
                </a:solidFill>
                <a:latin typeface="Calibri"/>
              </a:defRPr>
            </a:pPr>
            <a:r>
              <a:t>61%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834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F95A3"/>
                </a:solidFill>
                <a:latin typeface="Calibri"/>
              </a:defRPr>
            </a:pPr>
            <a:r>
              <a:t>retention 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by Gaming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840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Infinite Minesweeper Success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38912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Achieved 61% retention rate, placing us in Apple's benchmark ERA 151-160% category for exceptional performance.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8F95A3"/>
                </a:solidFill>
                <a:latin typeface="Calibri"/>
              </a:defRPr>
            </a:pPr>
            <a:r>
              <a:t>💬 "Gaming division turned profitable in 2025!"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17A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17A2B8"/>
                </a:solidFill>
                <a:latin typeface="Calibri"/>
              </a:defRPr>
            </a:pPr>
            <a:r>
              <a:t>🛡️ 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17A2B8"/>
                </a:solidFill>
                <a:latin typeface="Calibri"/>
              </a:defRPr>
            </a:pPr>
            <a:r>
              <a:t>Security Victory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 i="0">
                <a:solidFill>
                  <a:srgbClr val="17A2B8"/>
                </a:solidFill>
                <a:latin typeface="Calibri"/>
              </a:defRPr>
            </a:pPr>
            <a:r>
              <a:t>4%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834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F95A3"/>
                </a:solidFill>
                <a:latin typeface="Calibri"/>
              </a:defRPr>
            </a:pPr>
            <a:r>
              <a:t>fraud 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by Security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840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Fraud Prevention Success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38912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Reduced fraud from 22% to under 4% using dynamic SDK signatures and advanced detection algorithms.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8F95A3"/>
                </a:solidFill>
                <a:latin typeface="Calibri"/>
              </a:defRPr>
            </a:pPr>
            <a:r>
              <a:t>💬 "Our platform is now significantly more secure"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6C5CE7"/>
                </a:solidFill>
                <a:latin typeface="Calibri"/>
              </a:defRPr>
            </a:pPr>
            <a:r>
              <a:t>🤖 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6C5CE7"/>
                </a:solidFill>
                <a:latin typeface="Calibri"/>
              </a:defRPr>
            </a:pPr>
            <a:r>
              <a:t>AI Transformation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 i="0">
                <a:solidFill>
                  <a:srgbClr val="6C5CE7"/>
                </a:solidFill>
                <a:latin typeface="Calibri"/>
              </a:defRPr>
            </a:pPr>
            <a:r>
              <a:t>1,000+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834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F95A3"/>
                </a:solidFill>
                <a:latin typeface="Calibri"/>
              </a:defRPr>
            </a:pPr>
            <a:r>
              <a:t>OKRs daily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by AI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840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OKR Auditor AI Success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38912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Our AI auditor now checks over 1,000 individual OKRs daily, ensuring alignment and progress tracking.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8F95A3"/>
                </a:solidFill>
                <a:latin typeface="Calibri"/>
              </a:defRPr>
            </a:pPr>
            <a:r>
              <a:t>💬 "Every employee will manage 5-10 AI agents within 3-6 months"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D63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D63031"/>
                </a:solidFill>
                <a:latin typeface="Calibri"/>
              </a:defRPr>
            </a:pPr>
            <a:r>
              <a:t>📖  RECOMMENDED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D63031"/>
                </a:solidFill>
                <a:latin typeface="Calibri"/>
              </a:defRPr>
            </a:pPr>
            <a:r>
              <a:t>Recommended Reading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D63031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2103120"/>
            <a:ext cx="9326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FFFFF"/>
                </a:solidFill>
                <a:latin typeface="Calibri"/>
              </a:defRPr>
            </a:pPr>
            <a:r>
              <a:t>The Speaking Coach: Stop Saying This Word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423160"/>
            <a:ext cx="9326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2E2EA"/>
                </a:solidFill>
                <a:latin typeface="Calibri"/>
              </a:defRPr>
            </a:pPr>
            <a:r>
              <a:t>Great insights on communication skills - highly recommended listening despite the clickbait title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743200"/>
            <a:ext cx="9326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F95A3"/>
                </a:solidFill>
                <a:latin typeface="Calibri"/>
              </a:defRPr>
            </a:pPr>
            <a:r>
              <a:t>Shared by Maria Plendukova ·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94360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5C6270"/>
                </a:solidFill>
                <a:latin typeface="Calibri"/>
              </a:defRPr>
            </a:pPr>
            <a:r>
              <a:t>#general-chat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D7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D79A8"/>
                </a:solidFill>
                <a:latin typeface="Calibri"/>
              </a:defRPr>
            </a:pPr>
            <a:r>
              <a:t>💫  OFFICE LIFE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D79A8"/>
                </a:solidFill>
                <a:latin typeface="Calibri"/>
              </a:defRPr>
            </a:pPr>
            <a:r>
              <a:t>Gratitude Moment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Heartfelt Thanks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743200"/>
            <a:ext cx="9692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"Thanks guys, all of you, for the warm wishes! 💕"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7548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— Alexandr Sikorsky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2120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D79A8"/>
                </a:solidFill>
                <a:latin typeface="Calibri"/>
              </a:defRPr>
            </a:pPr>
            <a:r>
              <a:t>Multiple hearts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76072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5C6270"/>
                </a:solidFill>
                <a:latin typeface="Calibri"/>
              </a:defRPr>
            </a:pPr>
            <a:r>
              <a:t>#birthdays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00B894"/>
                </a:solidFill>
                <a:latin typeface="Calibri"/>
              </a:defRPr>
            </a:pPr>
            <a:r>
              <a:t>💰  MILESTONE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0B894"/>
                </a:solidFill>
                <a:latin typeface="Calibri"/>
              </a:defRPr>
            </a:pPr>
            <a:r>
              <a:t>Sales Excellence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 i="0">
                <a:solidFill>
                  <a:srgbClr val="00B894"/>
                </a:solidFill>
                <a:latin typeface="Calibri"/>
              </a:defRPr>
            </a:pPr>
            <a:r>
              <a:t>$390k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926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F95A3"/>
                </a:solidFill>
                <a:latin typeface="Calibri"/>
              </a:defRPr>
            </a:pPr>
            <a:r>
              <a:t>Weekly Revenue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56616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Weekly Sales Victory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E2E2EA"/>
                </a:solidFill>
                <a:latin typeface="Calibri"/>
              </a:defRPr>
            </a:pPr>
            <a:r>
              <a:t>Sales team closed 8 deals generating $390k net revenue in a single week, demonstrating our strong market position.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