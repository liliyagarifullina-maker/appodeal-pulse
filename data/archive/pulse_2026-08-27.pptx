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TextBox 1"/>
          <p:cNvSpPr txBox="1"/>
          <p:nvPr/>
        </p:nvSpPr>
        <p:spPr>
          <a:xfrm>
            <a:off x="1097280" y="1828800"/>
            <a:ext cx="9966960" cy="548640"/>
          </a:xfrm>
          <a:prstGeom prst="rect">
            <a:avLst/>
          </a:prstGeom>
          <a:noFill/>
        </p:spPr>
        <p:txBody>
          <a:bodyPr wrap="square">
            <a:spAutoFit/>
          </a:bodyPr>
          <a:lstStyle/>
          <a:p>
            <a:pPr algn="ctr">
              <a:defRPr sz="1800" b="1" i="0">
                <a:solidFill>
                  <a:srgbClr val="5C6270"/>
                </a:solidFill>
                <a:latin typeface="Calibri"/>
              </a:defRPr>
            </a:pPr>
            <a:r>
              <a:t>APPODEAL</a:t>
            </a:r>
          </a:p>
        </p:txBody>
      </p:sp>
      <p:sp>
        <p:nvSpPr>
          <p:cNvPr id="3" name="TextBox 2"/>
          <p:cNvSpPr txBox="1"/>
          <p:nvPr/>
        </p:nvSpPr>
        <p:spPr>
          <a:xfrm>
            <a:off x="1097280" y="2468880"/>
            <a:ext cx="9966960" cy="1097280"/>
          </a:xfrm>
          <a:prstGeom prst="rect">
            <a:avLst/>
          </a:prstGeom>
          <a:noFill/>
        </p:spPr>
        <p:txBody>
          <a:bodyPr wrap="square">
            <a:spAutoFit/>
          </a:bodyPr>
          <a:lstStyle/>
          <a:p>
            <a:pPr algn="ctr">
              <a:defRPr sz="5600" b="1" i="0">
                <a:solidFill>
                  <a:srgbClr val="FFFFFF"/>
                </a:solidFill>
                <a:latin typeface="Calibri"/>
              </a:defRPr>
            </a:pPr>
            <a:r>
              <a:t>PULSE</a:t>
            </a:r>
          </a:p>
        </p:txBody>
      </p:sp>
      <p:sp>
        <p:nvSpPr>
          <p:cNvPr id="4" name="TextBox 3"/>
          <p:cNvSpPr txBox="1"/>
          <p:nvPr/>
        </p:nvSpPr>
        <p:spPr>
          <a:xfrm>
            <a:off x="1097280" y="3840480"/>
            <a:ext cx="9966960" cy="457200"/>
          </a:xfrm>
          <a:prstGeom prst="rect">
            <a:avLst/>
          </a:prstGeom>
          <a:noFill/>
        </p:spPr>
        <p:txBody>
          <a:bodyPr wrap="square">
            <a:spAutoFit/>
          </a:bodyPr>
          <a:lstStyle/>
          <a:p>
            <a:pPr algn="ctr">
              <a:defRPr sz="1600" b="0" i="0">
                <a:solidFill>
                  <a:srgbClr val="8F95A3"/>
                </a:solidFill>
                <a:latin typeface="Calibri"/>
              </a:defRPr>
            </a:pPr>
            <a:r>
              <a:t>Thursday, August 27, 2026</a:t>
            </a:r>
          </a:p>
        </p:txBody>
      </p:sp>
      <p:sp>
        <p:nvSpPr>
          <p:cNvPr id="5" name="Rectangle 4"/>
          <p:cNvSpPr/>
          <p:nvPr/>
        </p:nvSpPr>
        <p:spPr>
          <a:xfrm>
            <a:off x="5029200" y="4572000"/>
            <a:ext cx="2103120" cy="36576"/>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FFB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FFB72B"/>
                </a:solidFill>
                <a:latin typeface="Calibri"/>
              </a:defRPr>
            </a:pPr>
            <a:r>
              <a:t>🎂  CELEBRATION</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FFB72B"/>
                </a:solidFill>
                <a:latin typeface="Calibri"/>
              </a:defRPr>
            </a:pPr>
            <a:r>
              <a:t>Happy Birthday!</a:t>
            </a:r>
          </a:p>
        </p:txBody>
      </p:sp>
      <p:sp>
        <p:nvSpPr>
          <p:cNvPr id="5" name="TextBox 4"/>
          <p:cNvSpPr txBox="1"/>
          <p:nvPr/>
        </p:nvSpPr>
        <p:spPr>
          <a:xfrm>
            <a:off x="1097280" y="2103120"/>
            <a:ext cx="9966960" cy="640080"/>
          </a:xfrm>
          <a:prstGeom prst="rect">
            <a:avLst/>
          </a:prstGeom>
          <a:noFill/>
        </p:spPr>
        <p:txBody>
          <a:bodyPr wrap="square">
            <a:spAutoFit/>
          </a:bodyPr>
          <a:lstStyle/>
          <a:p>
            <a:pPr algn="l">
              <a:defRPr sz="2800" b="1" i="0">
                <a:solidFill>
                  <a:srgbClr val="FFFFFF"/>
                </a:solidFill>
                <a:latin typeface="Calibri"/>
              </a:defRPr>
            </a:pPr>
            <a:r>
              <a:t>* Iurii Ignatev</a:t>
            </a:r>
          </a:p>
        </p:txBody>
      </p:sp>
      <p:sp>
        <p:nvSpPr>
          <p:cNvPr id="6" name="TextBox 5"/>
          <p:cNvSpPr txBox="1"/>
          <p:nvPr/>
        </p:nvSpPr>
        <p:spPr>
          <a:xfrm>
            <a:off x="1097280" y="2743200"/>
            <a:ext cx="9966960" cy="365760"/>
          </a:xfrm>
          <a:prstGeom prst="rect">
            <a:avLst/>
          </a:prstGeom>
          <a:noFill/>
        </p:spPr>
        <p:txBody>
          <a:bodyPr wrap="square">
            <a:spAutoFit/>
          </a:bodyPr>
          <a:lstStyle/>
          <a:p>
            <a:pPr algn="l">
              <a:defRPr sz="1400" b="0" i="0">
                <a:solidFill>
                  <a:srgbClr val="8F95A3"/>
                </a:solidFill>
                <a:latin typeface="Calibri"/>
              </a:defRPr>
            </a:pPr>
            <a:r>
              <a:t>August 27</a:t>
            </a:r>
          </a:p>
        </p:txBody>
      </p:sp>
      <p:sp>
        <p:nvSpPr>
          <p:cNvPr id="7" name="TextBox 6"/>
          <p:cNvSpPr txBox="1"/>
          <p:nvPr/>
        </p:nvSpPr>
        <p:spPr>
          <a:xfrm>
            <a:off x="1097280" y="3291840"/>
            <a:ext cx="9966960" cy="914400"/>
          </a:xfrm>
          <a:prstGeom prst="rect">
            <a:avLst/>
          </a:prstGeom>
          <a:noFill/>
        </p:spPr>
        <p:txBody>
          <a:bodyPr wrap="square">
            <a:spAutoFit/>
          </a:bodyPr>
          <a:lstStyle/>
          <a:p>
            <a:pPr algn="l">
              <a:defRPr sz="1600" b="0" i="0">
                <a:solidFill>
                  <a:srgbClr val="E2E2EA"/>
                </a:solidFill>
                <a:latin typeface="Calibri"/>
              </a:defRPr>
            </a:pPr>
            <a:r>
              <a:t>Wishing you an amazing day filled with joy and celebration!</a:t>
            </a:r>
          </a:p>
        </p:txBody>
      </p:sp>
      <p:sp>
        <p:nvSpPr>
          <p:cNvPr id="8" name="TextBox 7"/>
          <p:cNvSpPr txBox="1"/>
          <p:nvPr/>
        </p:nvSpPr>
        <p:spPr>
          <a:xfrm>
            <a:off x="1097280" y="4572000"/>
            <a:ext cx="9966960" cy="457200"/>
          </a:xfrm>
          <a:prstGeom prst="rect">
            <a:avLst/>
          </a:prstGeom>
          <a:noFill/>
        </p:spPr>
        <p:txBody>
          <a:bodyPr wrap="square">
            <a:spAutoFit/>
          </a:bodyPr>
          <a:lstStyle/>
          <a:p>
            <a:pPr algn="l">
              <a:defRPr sz="1400" b="0" i="1">
                <a:solidFill>
                  <a:srgbClr val="FFB72B"/>
                </a:solidFill>
                <a:latin typeface="Calibri"/>
              </a:defRPr>
            </a:pPr>
            <a:r>
              <a:t>* Exchange Engineering · * Thailand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00F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00FFD1"/>
                </a:solidFill>
                <a:latin typeface="Calibri"/>
              </a:defRPr>
            </a:pPr>
            <a:r>
              <a:t>📢  OFFICE LIFE</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00FFD1"/>
                </a:solidFill>
                <a:latin typeface="Calibri"/>
              </a:defRPr>
            </a:pPr>
            <a:r>
              <a:t>From #general</a:t>
            </a:r>
          </a:p>
        </p:txBody>
      </p:sp>
      <p:sp>
        <p:nvSpPr>
          <p:cNvPr id="5" name="TextBox 4"/>
          <p:cNvSpPr txBox="1"/>
          <p:nvPr/>
        </p:nvSpPr>
        <p:spPr>
          <a:xfrm>
            <a:off x="1097280" y="2103120"/>
            <a:ext cx="9966960" cy="457200"/>
          </a:xfrm>
          <a:prstGeom prst="rect">
            <a:avLst/>
          </a:prstGeom>
          <a:noFill/>
        </p:spPr>
        <p:txBody>
          <a:bodyPr wrap="square">
            <a:spAutoFit/>
          </a:bodyPr>
          <a:lstStyle/>
          <a:p>
            <a:pPr algn="l">
              <a:defRPr sz="1800" b="1" i="0">
                <a:solidFill>
                  <a:srgbClr val="FFFFFF"/>
                </a:solidFill>
                <a:latin typeface="Calibri"/>
              </a:defRPr>
            </a:pPr>
            <a:r>
              <a:t>Heads up on a change to how Culture Health Rate is calculated. It went live yest...</a:t>
            </a:r>
          </a:p>
        </p:txBody>
      </p:sp>
      <p:sp>
        <p:nvSpPr>
          <p:cNvPr id="6" name="TextBox 5"/>
          <p:cNvSpPr txBox="1"/>
          <p:nvPr/>
        </p:nvSpPr>
        <p:spPr>
          <a:xfrm>
            <a:off x="1371600" y="2743200"/>
            <a:ext cx="9692640" cy="1828800"/>
          </a:xfrm>
          <a:prstGeom prst="rect">
            <a:avLst/>
          </a:prstGeom>
          <a:noFill/>
        </p:spPr>
        <p:txBody>
          <a:bodyPr wrap="square">
            <a:spAutoFit/>
          </a:bodyPr>
          <a:lstStyle/>
          <a:p>
            <a:pPr algn="l">
              <a:defRPr sz="1500" b="0" i="1">
                <a:solidFill>
                  <a:srgbClr val="E2E2EA"/>
                </a:solidFill>
                <a:latin typeface="Calibri"/>
              </a:defRPr>
            </a:pPr>
            <a:r>
              <a:t>"Heads up on a change to how Culture Health Rate is calculated. It went live yesterday, so you'll see it next time you log into Appodeal Life. What changed Inside CHR, the OKR Health Rate portion now also looks at whether your active KRs sit on a scorecard. If a KR is active in an OKR and is not list"</a:t>
            </a:r>
          </a:p>
        </p:txBody>
      </p:sp>
      <p:sp>
        <p:nvSpPr>
          <p:cNvPr id="7" name="TextBox 6"/>
          <p:cNvSpPr txBox="1"/>
          <p:nvPr/>
        </p:nvSpPr>
        <p:spPr>
          <a:xfrm>
            <a:off x="1097280" y="4754880"/>
            <a:ext cx="9966960" cy="365760"/>
          </a:xfrm>
          <a:prstGeom prst="rect">
            <a:avLst/>
          </a:prstGeom>
          <a:noFill/>
        </p:spPr>
        <p:txBody>
          <a:bodyPr wrap="square">
            <a:spAutoFit/>
          </a:bodyPr>
          <a:lstStyle/>
          <a:p>
            <a:pPr algn="l">
              <a:defRPr sz="1400" b="0" i="0">
                <a:solidFill>
                  <a:srgbClr val="8F95A3"/>
                </a:solidFill>
                <a:latin typeface="Calibri"/>
              </a:defRPr>
            </a:pPr>
            <a:r>
              <a:t>— Peter Van Kersen</a:t>
            </a:r>
          </a:p>
        </p:txBody>
      </p:sp>
      <p:sp>
        <p:nvSpPr>
          <p:cNvPr id="8" name="TextBox 7"/>
          <p:cNvSpPr txBox="1"/>
          <p:nvPr/>
        </p:nvSpPr>
        <p:spPr>
          <a:xfrm>
            <a:off x="1097280" y="5760720"/>
            <a:ext cx="9966960" cy="274320"/>
          </a:xfrm>
          <a:prstGeom prst="rect">
            <a:avLst/>
          </a:prstGeom>
          <a:noFill/>
        </p:spPr>
        <p:txBody>
          <a:bodyPr wrap="square">
            <a:spAutoFit/>
          </a:bodyPr>
          <a:lstStyle/>
          <a:p>
            <a:pPr algn="l">
              <a:defRPr sz="1100" b="0" i="0">
                <a:solidFill>
                  <a:srgbClr val="5C6270"/>
                </a:solidFill>
                <a:latin typeface="Calibri"/>
              </a:defRPr>
            </a:pPr>
            <a:r>
              <a:t>#general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00F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00FFD1"/>
                </a:solidFill>
                <a:latin typeface="Calibri"/>
              </a:defRPr>
            </a:pPr>
            <a:r>
              <a:t>📢  OFFICE LIFE</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00FFD1"/>
                </a:solidFill>
                <a:latin typeface="Calibri"/>
              </a:defRPr>
            </a:pPr>
            <a:r>
              <a:t>From #general</a:t>
            </a:r>
          </a:p>
        </p:txBody>
      </p:sp>
      <p:sp>
        <p:nvSpPr>
          <p:cNvPr id="5" name="TextBox 4"/>
          <p:cNvSpPr txBox="1"/>
          <p:nvPr/>
        </p:nvSpPr>
        <p:spPr>
          <a:xfrm>
            <a:off x="1097280" y="2103120"/>
            <a:ext cx="9966960" cy="457200"/>
          </a:xfrm>
          <a:prstGeom prst="rect">
            <a:avLst/>
          </a:prstGeom>
          <a:noFill/>
        </p:spPr>
        <p:txBody>
          <a:bodyPr wrap="square">
            <a:spAutoFit/>
          </a:bodyPr>
          <a:lstStyle/>
          <a:p>
            <a:pPr algn="l">
              <a:defRPr sz="1800" b="1" i="0">
                <a:solidFill>
                  <a:srgbClr val="FFFFFF"/>
                </a:solidFill>
                <a:latin typeface="Calibri"/>
              </a:defRPr>
            </a:pPr>
            <a:r>
              <a:t>SDK 3.8 is live, and as the team puts it, every publisher should update to this ...</a:t>
            </a:r>
          </a:p>
        </p:txBody>
      </p:sp>
      <p:sp>
        <p:nvSpPr>
          <p:cNvPr id="6" name="TextBox 5"/>
          <p:cNvSpPr txBox="1"/>
          <p:nvPr/>
        </p:nvSpPr>
        <p:spPr>
          <a:xfrm>
            <a:off x="1371600" y="2743200"/>
            <a:ext cx="9692640" cy="1828800"/>
          </a:xfrm>
          <a:prstGeom prst="rect">
            <a:avLst/>
          </a:prstGeom>
          <a:noFill/>
        </p:spPr>
        <p:txBody>
          <a:bodyPr wrap="square">
            <a:spAutoFit/>
          </a:bodyPr>
          <a:lstStyle/>
          <a:p>
            <a:pPr algn="l">
              <a:defRPr sz="1500" b="0" i="1">
                <a:solidFill>
                  <a:srgbClr val="E2E2EA"/>
                </a:solidFill>
                <a:latin typeface="Calibri"/>
              </a:defRPr>
            </a:pPr>
            <a:r>
              <a:t>"SDK 3.8 is live, and as the team puts it, every publisher should update to this version It gives an edge going into the Q4 peak season: user-friendly ad formats, improved deep linking to bring in more eCommerce demand and expanded telemetry to help catch issues before they hit revenue. Let’s get it "</a:t>
            </a:r>
          </a:p>
        </p:txBody>
      </p:sp>
      <p:sp>
        <p:nvSpPr>
          <p:cNvPr id="7" name="TextBox 6"/>
          <p:cNvSpPr txBox="1"/>
          <p:nvPr/>
        </p:nvSpPr>
        <p:spPr>
          <a:xfrm>
            <a:off x="1097280" y="4754880"/>
            <a:ext cx="9966960" cy="365760"/>
          </a:xfrm>
          <a:prstGeom prst="rect">
            <a:avLst/>
          </a:prstGeom>
          <a:noFill/>
        </p:spPr>
        <p:txBody>
          <a:bodyPr wrap="square">
            <a:spAutoFit/>
          </a:bodyPr>
          <a:lstStyle/>
          <a:p>
            <a:pPr algn="l">
              <a:defRPr sz="1400" b="0" i="0">
                <a:solidFill>
                  <a:srgbClr val="8F95A3"/>
                </a:solidFill>
                <a:latin typeface="Calibri"/>
              </a:defRPr>
            </a:pPr>
            <a:r>
              <a:t>— Anastasia Radek</a:t>
            </a:r>
          </a:p>
        </p:txBody>
      </p:sp>
      <p:sp>
        <p:nvSpPr>
          <p:cNvPr id="8" name="TextBox 7"/>
          <p:cNvSpPr txBox="1"/>
          <p:nvPr/>
        </p:nvSpPr>
        <p:spPr>
          <a:xfrm>
            <a:off x="1097280" y="5760720"/>
            <a:ext cx="9966960" cy="274320"/>
          </a:xfrm>
          <a:prstGeom prst="rect">
            <a:avLst/>
          </a:prstGeom>
          <a:noFill/>
        </p:spPr>
        <p:txBody>
          <a:bodyPr wrap="square">
            <a:spAutoFit/>
          </a:bodyPr>
          <a:lstStyle/>
          <a:p>
            <a:pPr algn="l">
              <a:defRPr sz="1100" b="0" i="0">
                <a:solidFill>
                  <a:srgbClr val="5C6270"/>
                </a:solidFill>
                <a:latin typeface="Calibri"/>
              </a:defRPr>
            </a:pPr>
            <a:r>
              <a:t>#general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00F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00FFD1"/>
                </a:solidFill>
                <a:latin typeface="Calibri"/>
              </a:defRPr>
            </a:pPr>
            <a:r>
              <a:t>📢  OFFICE LIFE</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00FFD1"/>
                </a:solidFill>
                <a:latin typeface="Calibri"/>
              </a:defRPr>
            </a:pPr>
            <a:r>
              <a:t>From #general</a:t>
            </a:r>
          </a:p>
        </p:txBody>
      </p:sp>
      <p:sp>
        <p:nvSpPr>
          <p:cNvPr id="5" name="TextBox 4"/>
          <p:cNvSpPr txBox="1"/>
          <p:nvPr/>
        </p:nvSpPr>
        <p:spPr>
          <a:xfrm>
            <a:off x="1097280" y="2103120"/>
            <a:ext cx="9966960" cy="457200"/>
          </a:xfrm>
          <a:prstGeom prst="rect">
            <a:avLst/>
          </a:prstGeom>
          <a:noFill/>
        </p:spPr>
        <p:txBody>
          <a:bodyPr wrap="square">
            <a:spAutoFit/>
          </a:bodyPr>
          <a:lstStyle/>
          <a:p>
            <a:pPr algn="l">
              <a:defRPr sz="1800" b="1" i="0">
                <a:solidFill>
                  <a:srgbClr val="FFFFFF"/>
                </a:solidFill>
                <a:latin typeface="Calibri"/>
              </a:defRPr>
            </a:pPr>
            <a:r>
              <a:t>don't miss the session with Jessica Neal, ex Chief Talent Officer at Netflix. De...</a:t>
            </a:r>
          </a:p>
        </p:txBody>
      </p:sp>
      <p:sp>
        <p:nvSpPr>
          <p:cNvPr id="6" name="TextBox 5"/>
          <p:cNvSpPr txBox="1"/>
          <p:nvPr/>
        </p:nvSpPr>
        <p:spPr>
          <a:xfrm>
            <a:off x="1371600" y="2743200"/>
            <a:ext cx="9692640" cy="1828800"/>
          </a:xfrm>
          <a:prstGeom prst="rect">
            <a:avLst/>
          </a:prstGeom>
          <a:noFill/>
        </p:spPr>
        <p:txBody>
          <a:bodyPr wrap="square">
            <a:spAutoFit/>
          </a:bodyPr>
          <a:lstStyle/>
          <a:p>
            <a:pPr algn="l">
              <a:defRPr sz="1500" b="0" i="1">
                <a:solidFill>
                  <a:srgbClr val="E2E2EA"/>
                </a:solidFill>
                <a:latin typeface="Calibri"/>
              </a:defRPr>
            </a:pPr>
            <a:r>
              <a:t>"don't miss the session with Jessica Neal, ex Chief Talent Officer at Netflix. Details in the message below. Drop your questions for Jessica in the thread of the original post"</a:t>
            </a:r>
          </a:p>
        </p:txBody>
      </p:sp>
      <p:sp>
        <p:nvSpPr>
          <p:cNvPr id="7" name="TextBox 6"/>
          <p:cNvSpPr txBox="1"/>
          <p:nvPr/>
        </p:nvSpPr>
        <p:spPr>
          <a:xfrm>
            <a:off x="1097280" y="4754880"/>
            <a:ext cx="9966960" cy="365760"/>
          </a:xfrm>
          <a:prstGeom prst="rect">
            <a:avLst/>
          </a:prstGeom>
          <a:noFill/>
        </p:spPr>
        <p:txBody>
          <a:bodyPr wrap="square">
            <a:spAutoFit/>
          </a:bodyPr>
          <a:lstStyle/>
          <a:p>
            <a:pPr algn="l">
              <a:defRPr sz="1400" b="0" i="0">
                <a:solidFill>
                  <a:srgbClr val="8F95A3"/>
                </a:solidFill>
                <a:latin typeface="Calibri"/>
              </a:defRPr>
            </a:pPr>
            <a:r>
              <a:t>— Mykhailo Kukharskyi</a:t>
            </a:r>
          </a:p>
        </p:txBody>
      </p:sp>
      <p:sp>
        <p:nvSpPr>
          <p:cNvPr id="8" name="TextBox 7"/>
          <p:cNvSpPr txBox="1"/>
          <p:nvPr/>
        </p:nvSpPr>
        <p:spPr>
          <a:xfrm>
            <a:off x="1097280" y="5760720"/>
            <a:ext cx="9966960" cy="274320"/>
          </a:xfrm>
          <a:prstGeom prst="rect">
            <a:avLst/>
          </a:prstGeom>
          <a:noFill/>
        </p:spPr>
        <p:txBody>
          <a:bodyPr wrap="square">
            <a:spAutoFit/>
          </a:bodyPr>
          <a:lstStyle/>
          <a:p>
            <a:pPr algn="l">
              <a:defRPr sz="1100" b="0" i="0">
                <a:solidFill>
                  <a:srgbClr val="5C6270"/>
                </a:solidFill>
                <a:latin typeface="Calibri"/>
              </a:defRPr>
            </a:pPr>
            <a:r>
              <a:t>#general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5D2C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5D2CAC"/>
                </a:solidFill>
                <a:latin typeface="Calibri"/>
              </a:defRPr>
            </a:pPr>
            <a:r>
              <a:t>👏  OFFICE LIFE</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5D2CAC"/>
                </a:solidFill>
                <a:latin typeface="Calibri"/>
              </a:defRPr>
            </a:pPr>
            <a:r>
              <a:t>From #claps</a:t>
            </a:r>
          </a:p>
        </p:txBody>
      </p:sp>
      <p:sp>
        <p:nvSpPr>
          <p:cNvPr id="5" name="TextBox 4"/>
          <p:cNvSpPr txBox="1"/>
          <p:nvPr/>
        </p:nvSpPr>
        <p:spPr>
          <a:xfrm>
            <a:off x="1097280" y="2103120"/>
            <a:ext cx="9966960" cy="457200"/>
          </a:xfrm>
          <a:prstGeom prst="rect">
            <a:avLst/>
          </a:prstGeom>
          <a:noFill/>
        </p:spPr>
        <p:txBody>
          <a:bodyPr wrap="square">
            <a:spAutoFit/>
          </a:bodyPr>
          <a:lstStyle/>
          <a:p>
            <a:pPr algn="l">
              <a:defRPr sz="1800" b="1" i="0">
                <a:solidFill>
                  <a:srgbClr val="FFFFFF"/>
                </a:solidFill>
                <a:latin typeface="Calibri"/>
              </a:defRPr>
            </a:pPr>
            <a:r>
              <a:t>Anna Hrytsel received 50× from nikita_ch</a:t>
            </a:r>
          </a:p>
        </p:txBody>
      </p:sp>
      <p:sp>
        <p:nvSpPr>
          <p:cNvPr id="6" name="TextBox 5"/>
          <p:cNvSpPr txBox="1"/>
          <p:nvPr/>
        </p:nvSpPr>
        <p:spPr>
          <a:xfrm>
            <a:off x="1371600" y="2743200"/>
            <a:ext cx="9692640" cy="1828800"/>
          </a:xfrm>
          <a:prstGeom prst="rect">
            <a:avLst/>
          </a:prstGeom>
          <a:noFill/>
        </p:spPr>
        <p:txBody>
          <a:bodyPr wrap="square">
            <a:spAutoFit/>
          </a:bodyPr>
          <a:lstStyle/>
          <a:p>
            <a:pPr algn="l">
              <a:defRPr sz="1500" b="0" i="1">
                <a:solidFill>
                  <a:srgbClr val="E2E2EA"/>
                </a:solidFill>
                <a:latin typeface="Calibri"/>
              </a:defRPr>
            </a:pPr>
            <a:r>
              <a:t>"Anna Hrytsel received 50× from nikita_ch"</a:t>
            </a:r>
          </a:p>
        </p:txBody>
      </p:sp>
      <p:sp>
        <p:nvSpPr>
          <p:cNvPr id="7" name="TextBox 6"/>
          <p:cNvSpPr txBox="1"/>
          <p:nvPr/>
        </p:nvSpPr>
        <p:spPr>
          <a:xfrm>
            <a:off x="1097280" y="4754880"/>
            <a:ext cx="9966960" cy="365760"/>
          </a:xfrm>
          <a:prstGeom prst="rect">
            <a:avLst/>
          </a:prstGeom>
          <a:noFill/>
        </p:spPr>
        <p:txBody>
          <a:bodyPr wrap="square">
            <a:spAutoFit/>
          </a:bodyPr>
          <a:lstStyle/>
          <a:p>
            <a:pPr algn="l">
              <a:defRPr sz="1400" b="0" i="0">
                <a:solidFill>
                  <a:srgbClr val="8F95A3"/>
                </a:solidFill>
                <a:latin typeface="Calibri"/>
              </a:defRPr>
            </a:pPr>
            <a:r>
              <a:t>— Clappy</a:t>
            </a:r>
          </a:p>
        </p:txBody>
      </p:sp>
      <p:sp>
        <p:nvSpPr>
          <p:cNvPr id="8" name="TextBox 7"/>
          <p:cNvSpPr txBox="1"/>
          <p:nvPr/>
        </p:nvSpPr>
        <p:spPr>
          <a:xfrm>
            <a:off x="1097280" y="5760720"/>
            <a:ext cx="9966960" cy="274320"/>
          </a:xfrm>
          <a:prstGeom prst="rect">
            <a:avLst/>
          </a:prstGeom>
          <a:noFill/>
        </p:spPr>
        <p:txBody>
          <a:bodyPr wrap="square">
            <a:spAutoFit/>
          </a:bodyPr>
          <a:lstStyle/>
          <a:p>
            <a:pPr algn="l">
              <a:defRPr sz="1100" b="0" i="0">
                <a:solidFill>
                  <a:srgbClr val="5C6270"/>
                </a:solidFill>
                <a:latin typeface="Calibri"/>
              </a:defRPr>
            </a:pPr>
            <a:r>
              <a:t>#claps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