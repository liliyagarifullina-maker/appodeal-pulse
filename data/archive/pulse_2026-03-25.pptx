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TextBox 1"/>
          <p:cNvSpPr txBox="1"/>
          <p:nvPr/>
        </p:nvSpPr>
        <p:spPr>
          <a:xfrm>
            <a:off x="1097280" y="1828800"/>
            <a:ext cx="9966960" cy="548640"/>
          </a:xfrm>
          <a:prstGeom prst="rect">
            <a:avLst/>
          </a:prstGeom>
          <a:noFill/>
        </p:spPr>
        <p:txBody>
          <a:bodyPr wrap="square">
            <a:spAutoFit/>
          </a:bodyPr>
          <a:lstStyle/>
          <a:p>
            <a:pPr algn="ctr">
              <a:defRPr sz="1800" b="1" i="0">
                <a:solidFill>
                  <a:srgbClr val="5C6270"/>
                </a:solidFill>
                <a:latin typeface="Calibri"/>
              </a:defRPr>
            </a:pPr>
            <a:r>
              <a:t>APPODEAL</a:t>
            </a:r>
          </a:p>
        </p:txBody>
      </p:sp>
      <p:sp>
        <p:nvSpPr>
          <p:cNvPr id="3" name="TextBox 2"/>
          <p:cNvSpPr txBox="1"/>
          <p:nvPr/>
        </p:nvSpPr>
        <p:spPr>
          <a:xfrm>
            <a:off x="1097280" y="2468880"/>
            <a:ext cx="9966960" cy="1097280"/>
          </a:xfrm>
          <a:prstGeom prst="rect">
            <a:avLst/>
          </a:prstGeom>
          <a:noFill/>
        </p:spPr>
        <p:txBody>
          <a:bodyPr wrap="square">
            <a:spAutoFit/>
          </a:bodyPr>
          <a:lstStyle/>
          <a:p>
            <a:pPr algn="ctr">
              <a:defRPr sz="5600" b="1" i="0">
                <a:solidFill>
                  <a:srgbClr val="FFFFFF"/>
                </a:solidFill>
                <a:latin typeface="Calibri"/>
              </a:defRPr>
            </a:pPr>
            <a:r>
              <a:t>PULSE</a:t>
            </a:r>
          </a:p>
        </p:txBody>
      </p:sp>
      <p:sp>
        <p:nvSpPr>
          <p:cNvPr id="4" name="TextBox 3"/>
          <p:cNvSpPr txBox="1"/>
          <p:nvPr/>
        </p:nvSpPr>
        <p:spPr>
          <a:xfrm>
            <a:off x="1097280" y="3840480"/>
            <a:ext cx="9966960" cy="457200"/>
          </a:xfrm>
          <a:prstGeom prst="rect">
            <a:avLst/>
          </a:prstGeom>
          <a:noFill/>
        </p:spPr>
        <p:txBody>
          <a:bodyPr wrap="square">
            <a:spAutoFit/>
          </a:bodyPr>
          <a:lstStyle/>
          <a:p>
            <a:pPr algn="ctr">
              <a:defRPr sz="1600" b="0" i="0">
                <a:solidFill>
                  <a:srgbClr val="8F95A3"/>
                </a:solidFill>
                <a:latin typeface="Calibri"/>
              </a:defRPr>
            </a:pPr>
            <a:r>
              <a:t>Wednesday, March 25, 2026</a:t>
            </a:r>
          </a:p>
        </p:txBody>
      </p:sp>
      <p:sp>
        <p:nvSpPr>
          <p:cNvPr id="5" name="Rectangle 4"/>
          <p:cNvSpPr/>
          <p:nvPr/>
        </p:nvSpPr>
        <p:spPr>
          <a:xfrm>
            <a:off x="5029200" y="4572000"/>
            <a:ext cx="21031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E91E63"/>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E91E63"/>
                </a:solidFill>
                <a:latin typeface="Calibri"/>
              </a:defRPr>
            </a:pPr>
            <a:r>
              <a:t>Birthday Celebration!</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Darya Ashurkevich</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Happy Birthday!</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Thank you everyone for the wonderful birthday wishes! 💜</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E91E63"/>
                </a:solidFill>
                <a:latin typeface="Calibri"/>
              </a:defRPr>
            </a:pPr>
            <a:r>
              <a:t>ASO TL | Chardonnay | Barcelona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9C27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9C27B0"/>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9C27B0"/>
                </a:solidFill>
                <a:latin typeface="Calibri"/>
              </a:defRPr>
            </a:pPr>
            <a:r>
              <a:t>Birthday Celebration!</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Pavel Savinskiy</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Happy Birthday!</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Celebrating another year with the team! Thank you for all the birthday love! 🎉</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9C27B0"/>
                </a:solidFill>
                <a:latin typeface="Calibri"/>
              </a:defRPr>
            </a:pPr>
            <a:r>
              <a:t>Head of Design and Creative Operations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6F00"/>
                </a:solidFill>
                <a:latin typeface="Calibri"/>
              </a:defRPr>
            </a:pPr>
            <a:r>
              <a:t>🚀  NEW TEAMMATE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6F00"/>
                </a:solidFill>
                <a:latin typeface="Calibri"/>
              </a:defRPr>
            </a:pPr>
            <a:r>
              <a:t>Welcome to the Team!</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Roman Loboda</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1" i="0">
                <a:solidFill>
                  <a:srgbClr val="FF6F00"/>
                </a:solidFill>
                <a:latin typeface="Calibri"/>
              </a:defRPr>
            </a:pPr>
            <a:r>
              <a:t>AI &amp; Automation Analyst · IT team</a:t>
            </a:r>
          </a:p>
        </p:txBody>
      </p:sp>
      <p:sp>
        <p:nvSpPr>
          <p:cNvPr id="7" name="TextBox 6"/>
          <p:cNvSpPr txBox="1"/>
          <p:nvPr/>
        </p:nvSpPr>
        <p:spPr>
          <a:xfrm>
            <a:off x="1097280" y="3383280"/>
            <a:ext cx="9966960" cy="1371600"/>
          </a:xfrm>
          <a:prstGeom prst="rect">
            <a:avLst/>
          </a:prstGeom>
          <a:noFill/>
        </p:spPr>
        <p:txBody>
          <a:bodyPr wrap="square">
            <a:spAutoFit/>
          </a:bodyPr>
          <a:lstStyle/>
          <a:p>
            <a:pPr algn="l">
              <a:defRPr sz="1500" b="0" i="1">
                <a:solidFill>
                  <a:srgbClr val="E2E2EA"/>
                </a:solidFill>
                <a:latin typeface="Calibri"/>
              </a:defRPr>
            </a:pPr>
            <a:r>
              <a:t>"I'm excited to join Appodeal as an AI &amp; Automation Analyst, working directly with Pavel in the Parkland office. My background is in software engineering and startups, focused on using AI and automation to reduce manual work and make operations more efficient."</a:t>
            </a:r>
          </a:p>
        </p:txBody>
      </p:sp>
      <p:sp>
        <p:nvSpPr>
          <p:cNvPr id="8" name="TextBox 7"/>
          <p:cNvSpPr txBox="1"/>
          <p:nvPr/>
        </p:nvSpPr>
        <p:spPr>
          <a:xfrm>
            <a:off x="1097280" y="5303520"/>
            <a:ext cx="9966960" cy="457200"/>
          </a:xfrm>
          <a:prstGeom prst="rect">
            <a:avLst/>
          </a:prstGeom>
          <a:noFill/>
        </p:spPr>
        <p:txBody>
          <a:bodyPr wrap="square">
            <a:spAutoFit/>
          </a:bodyPr>
          <a:lstStyle/>
          <a:p>
            <a:pPr algn="l">
              <a:defRPr sz="1800" b="0" i="0">
                <a:solidFill>
                  <a:srgbClr val="8F95A3"/>
                </a:solidFill>
                <a:latin typeface="Calibri"/>
              </a:defRPr>
            </a:pPr>
            <a:r>
              <a:t>👋 Welcome aboard!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1976D2"/>
                </a:solidFill>
                <a:latin typeface="Calibri"/>
              </a:defRPr>
            </a:pPr>
            <a:r>
              <a:t>🌟  NEW TEAMMATE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1976D2"/>
                </a:solidFill>
                <a:latin typeface="Calibri"/>
              </a:defRPr>
            </a:pPr>
            <a:r>
              <a:t>Welcome Aboard!</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Shayan Manouchehri</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1" i="0">
                <a:solidFill>
                  <a:srgbClr val="1976D2"/>
                </a:solidFill>
                <a:latin typeface="Calibri"/>
              </a:defRPr>
            </a:pPr>
            <a:r>
              <a:t>Senior Solution Architect · Exchange team</a:t>
            </a:r>
          </a:p>
        </p:txBody>
      </p:sp>
      <p:sp>
        <p:nvSpPr>
          <p:cNvPr id="7" name="TextBox 6"/>
          <p:cNvSpPr txBox="1"/>
          <p:nvPr/>
        </p:nvSpPr>
        <p:spPr>
          <a:xfrm>
            <a:off x="1097280" y="3383280"/>
            <a:ext cx="9966960" cy="1371600"/>
          </a:xfrm>
          <a:prstGeom prst="rect">
            <a:avLst/>
          </a:prstGeom>
          <a:noFill/>
        </p:spPr>
        <p:txBody>
          <a:bodyPr wrap="square">
            <a:spAutoFit/>
          </a:bodyPr>
          <a:lstStyle/>
          <a:p>
            <a:pPr algn="l">
              <a:defRPr sz="1500" b="0" i="1">
                <a:solidFill>
                  <a:srgbClr val="E2E2EA"/>
                </a:solidFill>
                <a:latin typeface="Calibri"/>
              </a:defRPr>
            </a:pPr>
            <a:r>
              <a:t>"Hi everyone! I'm from Barcelona, and I've spent the last few years at Criteo. I'm really looking forward to getting started and to keep growing and learning from all of you. I'm a proud cat owner and love exploring the city!"</a:t>
            </a:r>
          </a:p>
        </p:txBody>
      </p:sp>
      <p:sp>
        <p:nvSpPr>
          <p:cNvPr id="8" name="TextBox 7"/>
          <p:cNvSpPr txBox="1"/>
          <p:nvPr/>
        </p:nvSpPr>
        <p:spPr>
          <a:xfrm>
            <a:off x="1097280" y="5303520"/>
            <a:ext cx="9966960" cy="457200"/>
          </a:xfrm>
          <a:prstGeom prst="rect">
            <a:avLst/>
          </a:prstGeom>
          <a:noFill/>
        </p:spPr>
        <p:txBody>
          <a:bodyPr wrap="square">
            <a:spAutoFit/>
          </a:bodyPr>
          <a:lstStyle/>
          <a:p>
            <a:pPr algn="l">
              <a:defRPr sz="1800" b="0" i="0">
                <a:solidFill>
                  <a:srgbClr val="8F95A3"/>
                </a:solidFill>
                <a:latin typeface="Calibri"/>
              </a:defRPr>
            </a:pPr>
            <a:r>
              <a:t>👋 Welcome aboard!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388E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388E3C"/>
                </a:solidFill>
                <a:latin typeface="Calibri"/>
              </a:defRPr>
            </a:pPr>
            <a:r>
              <a:t>🎯  WIN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388E3C"/>
                </a:solidFill>
                <a:latin typeface="Calibri"/>
              </a:defRPr>
            </a:pPr>
            <a:r>
              <a:t>Internet Security Learning Success</a:t>
            </a:r>
          </a:p>
        </p:txBody>
      </p:sp>
      <p:sp>
        <p:nvSpPr>
          <p:cNvPr id="5" name="TextBox 4"/>
          <p:cNvSpPr txBox="1"/>
          <p:nvPr/>
        </p:nvSpPr>
        <p:spPr>
          <a:xfrm>
            <a:off x="1097280" y="2103120"/>
            <a:ext cx="4572000" cy="822960"/>
          </a:xfrm>
          <a:prstGeom prst="rect">
            <a:avLst/>
          </a:prstGeom>
          <a:noFill/>
        </p:spPr>
        <p:txBody>
          <a:bodyPr wrap="square">
            <a:spAutoFit/>
          </a:bodyPr>
          <a:lstStyle/>
          <a:p>
            <a:pPr algn="l">
              <a:defRPr sz="4800" b="1" i="0">
                <a:solidFill>
                  <a:srgbClr val="388E3C"/>
                </a:solidFill>
                <a:latin typeface="Calibri"/>
              </a:defRPr>
            </a:pPr>
            <a:r>
              <a:t>Part 2</a:t>
            </a:r>
          </a:p>
        </p:txBody>
      </p:sp>
      <p:sp>
        <p:nvSpPr>
          <p:cNvPr id="6" name="TextBox 5"/>
          <p:cNvSpPr txBox="1"/>
          <p:nvPr/>
        </p:nvSpPr>
        <p:spPr>
          <a:xfrm>
            <a:off x="1097280" y="2834640"/>
            <a:ext cx="4572000" cy="365760"/>
          </a:xfrm>
          <a:prstGeom prst="rect">
            <a:avLst/>
          </a:prstGeom>
          <a:noFill/>
        </p:spPr>
        <p:txBody>
          <a:bodyPr wrap="square">
            <a:spAutoFit/>
          </a:bodyPr>
          <a:lstStyle/>
          <a:p>
            <a:pPr algn="l">
              <a:defRPr sz="1200" b="0" i="0">
                <a:solidFill>
                  <a:srgbClr val="8F95A3"/>
                </a:solidFill>
                <a:latin typeface="Calibri"/>
              </a:defRPr>
            </a:pPr>
            <a:r>
              <a:t>coming next week</a:t>
            </a:r>
          </a:p>
        </p:txBody>
      </p:sp>
      <p:sp>
        <p:nvSpPr>
          <p:cNvPr id="7" name="TextBox 6"/>
          <p:cNvSpPr txBox="1"/>
          <p:nvPr/>
        </p:nvSpPr>
        <p:spPr>
          <a:xfrm>
            <a:off x="1097280" y="3291840"/>
            <a:ext cx="9966960" cy="365760"/>
          </a:xfrm>
          <a:prstGeom prst="rect">
            <a:avLst/>
          </a:prstGeom>
          <a:noFill/>
        </p:spPr>
        <p:txBody>
          <a:bodyPr wrap="square">
            <a:spAutoFit/>
          </a:bodyPr>
          <a:lstStyle/>
          <a:p>
            <a:pPr algn="l">
              <a:defRPr sz="1400" b="0" i="0">
                <a:solidFill>
                  <a:srgbClr val="E2E2EA"/>
                </a:solidFill>
                <a:latin typeface="Calibri"/>
              </a:defRPr>
            </a:pPr>
            <a:r>
              <a:t>by Dmytrii Mamatiusupov &amp; Team</a:t>
            </a:r>
          </a:p>
        </p:txBody>
      </p:sp>
      <p:sp>
        <p:nvSpPr>
          <p:cNvPr id="8" name="TextBox 7"/>
          <p:cNvSpPr txBox="1"/>
          <p:nvPr/>
        </p:nvSpPr>
        <p:spPr>
          <a:xfrm>
            <a:off x="1097280" y="3840480"/>
            <a:ext cx="9966960" cy="457200"/>
          </a:xfrm>
          <a:prstGeom prst="rect">
            <a:avLst/>
          </a:prstGeom>
          <a:noFill/>
        </p:spPr>
        <p:txBody>
          <a:bodyPr wrap="square">
            <a:spAutoFit/>
          </a:bodyPr>
          <a:lstStyle/>
          <a:p>
            <a:pPr algn="l">
              <a:defRPr sz="1800" b="1" i="0">
                <a:solidFill>
                  <a:srgbClr val="FFFFFF"/>
                </a:solidFill>
                <a:latin typeface="Calibri"/>
              </a:defRPr>
            </a:pPr>
            <a:r>
              <a:t>Lunch &amp; Learn: Internet Security 101 Delivered with Excellence</a:t>
            </a:r>
          </a:p>
        </p:txBody>
      </p:sp>
      <p:sp>
        <p:nvSpPr>
          <p:cNvPr id="9" name="TextBox 8"/>
          <p:cNvSpPr txBox="1"/>
          <p:nvPr/>
        </p:nvSpPr>
        <p:spPr>
          <a:xfrm>
            <a:off x="1097280" y="4389120"/>
            <a:ext cx="9966960" cy="914400"/>
          </a:xfrm>
          <a:prstGeom prst="rect">
            <a:avLst/>
          </a:prstGeom>
          <a:noFill/>
        </p:spPr>
        <p:txBody>
          <a:bodyPr wrap="square">
            <a:spAutoFit/>
          </a:bodyPr>
          <a:lstStyle/>
          <a:p>
            <a:pPr algn="l">
              <a:defRPr sz="1400" b="0" i="0">
                <a:solidFill>
                  <a:srgbClr val="E2E2EA"/>
                </a:solidFill>
                <a:latin typeface="Calibri"/>
              </a:defRPr>
            </a:pPr>
            <a:r>
              <a:t>Our Internet Security 101 session was a standout success! Dmytrii transformed complex security topics into an engaging, story-driven presentation that made technical concepts accessible to everyone.</a:t>
            </a:r>
          </a:p>
        </p:txBody>
      </p:sp>
      <p:sp>
        <p:nvSpPr>
          <p:cNvPr id="10" name="TextBox 9"/>
          <p:cNvSpPr txBox="1"/>
          <p:nvPr/>
        </p:nvSpPr>
        <p:spPr>
          <a:xfrm>
            <a:off x="1097280" y="5486400"/>
            <a:ext cx="9966960" cy="457200"/>
          </a:xfrm>
          <a:prstGeom prst="rect">
            <a:avLst/>
          </a:prstGeom>
          <a:noFill/>
        </p:spPr>
        <p:txBody>
          <a:bodyPr wrap="square">
            <a:spAutoFit/>
          </a:bodyPr>
          <a:lstStyle/>
          <a:p>
            <a:pPr algn="l">
              <a:defRPr sz="1300" b="0" i="1">
                <a:solidFill>
                  <a:srgbClr val="8F95A3"/>
                </a:solidFill>
                <a:latin typeface="Calibri"/>
              </a:defRPr>
            </a:pPr>
            <a:r>
              <a:t>💬 "Proof that great teaching makes even the most technical subjects memorable and actionable for our entire team."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5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5722"/>
                </a:solidFill>
                <a:latin typeface="Calibri"/>
              </a:defRPr>
            </a:pPr>
            <a:r>
              <a:t>🤖  EVENT</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5722"/>
                </a:solidFill>
                <a:latin typeface="Calibri"/>
              </a:defRPr>
            </a:pPr>
            <a:r>
              <a:t>Tech Evolution Announcement</a:t>
            </a:r>
          </a:p>
        </p:txBody>
      </p:sp>
      <p:sp>
        <p:nvSpPr>
          <p:cNvPr id="5" name="TextBox 4"/>
          <p:cNvSpPr txBox="1"/>
          <p:nvPr/>
        </p:nvSpPr>
        <p:spPr>
          <a:xfrm>
            <a:off x="1097280" y="2103120"/>
            <a:ext cx="9966960" cy="548640"/>
          </a:xfrm>
          <a:prstGeom prst="rect">
            <a:avLst/>
          </a:prstGeom>
          <a:noFill/>
        </p:spPr>
        <p:txBody>
          <a:bodyPr wrap="square">
            <a:spAutoFit/>
          </a:bodyPr>
          <a:lstStyle/>
          <a:p>
            <a:pPr algn="l">
              <a:defRPr sz="2200" b="1" i="0">
                <a:solidFill>
                  <a:srgbClr val="FFFFFF"/>
                </a:solidFill>
                <a:latin typeface="Calibri"/>
              </a:defRPr>
            </a:pPr>
            <a:r>
              <a:t>Corporate AI Tool Migration</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1" i="0">
                <a:solidFill>
                  <a:srgbClr val="FF5722"/>
                </a:solidFill>
                <a:latin typeface="Calibri"/>
              </a:defRPr>
            </a:pPr>
            <a:r>
              <a:t>Rolling out now</a:t>
            </a:r>
          </a:p>
        </p:txBody>
      </p:sp>
      <p:sp>
        <p:nvSpPr>
          <p:cNvPr id="7" name="TextBox 6"/>
          <p:cNvSpPr txBox="1"/>
          <p:nvPr/>
        </p:nvSpPr>
        <p:spPr>
          <a:xfrm>
            <a:off x="1097280" y="3291840"/>
            <a:ext cx="9966960" cy="1371600"/>
          </a:xfrm>
          <a:prstGeom prst="rect">
            <a:avLst/>
          </a:prstGeom>
          <a:noFill/>
        </p:spPr>
        <p:txBody>
          <a:bodyPr wrap="square">
            <a:spAutoFit/>
          </a:bodyPr>
          <a:lstStyle/>
          <a:p>
            <a:pPr algn="l">
              <a:defRPr sz="1500" b="0" i="0">
                <a:solidFill>
                  <a:srgbClr val="E2E2EA"/>
                </a:solidFill>
                <a:latin typeface="Calibri"/>
              </a:defRPr>
            </a:pPr>
            <a:r>
              <a:t>We're transitioning to corporate AI accounts for ChatGPT, Claude, and Cursor to better track usage and scale best practices. Access via Okta with configured usage limits matching individual subscriptions.</a:t>
            </a:r>
          </a:p>
        </p:txBody>
      </p:sp>
      <p:sp>
        <p:nvSpPr>
          <p:cNvPr id="8" name="TextBox 7"/>
          <p:cNvSpPr txBox="1"/>
          <p:nvPr/>
        </p:nvSpPr>
        <p:spPr>
          <a:xfrm>
            <a:off x="1097280" y="5029200"/>
            <a:ext cx="9966960" cy="365760"/>
          </a:xfrm>
          <a:prstGeom prst="rect">
            <a:avLst/>
          </a:prstGeom>
          <a:noFill/>
        </p:spPr>
        <p:txBody>
          <a:bodyPr wrap="square">
            <a:spAutoFit/>
          </a:bodyPr>
          <a:lstStyle/>
          <a:p>
            <a:pPr algn="l">
              <a:defRPr sz="1300" b="0" i="0">
                <a:solidFill>
                  <a:srgbClr val="8F95A3"/>
                </a:solidFill>
                <a:latin typeface="Calibri"/>
              </a:defRPr>
            </a:pPr>
            <a:r>
              <a:t>Organized by Mariia Moskvina &amp; IT Team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9C27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9C27B0"/>
                </a:solidFill>
                <a:latin typeface="Calibri"/>
              </a:defRPr>
            </a:pPr>
            <a:r>
              <a:t>👏  CLAPS</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9C27B0"/>
                </a:solidFill>
                <a:latin typeface="Calibri"/>
              </a:defRPr>
            </a:pPr>
            <a:r>
              <a:t>Team Recognition</a:t>
            </a:r>
          </a:p>
        </p:txBody>
      </p:sp>
      <p:sp>
        <p:nvSpPr>
          <p:cNvPr id="5" name="TextBox 4"/>
          <p:cNvSpPr txBox="1"/>
          <p:nvPr/>
        </p:nvSpPr>
        <p:spPr>
          <a:xfrm>
            <a:off x="1097280" y="2103120"/>
            <a:ext cx="2743200" cy="548640"/>
          </a:xfrm>
          <a:prstGeom prst="rect">
            <a:avLst/>
          </a:prstGeom>
          <a:noFill/>
        </p:spPr>
        <p:txBody>
          <a:bodyPr wrap="square">
            <a:spAutoFit/>
          </a:bodyPr>
          <a:lstStyle/>
          <a:p>
            <a:pPr algn="l">
              <a:defRPr sz="2800" b="1" i="0">
                <a:solidFill>
                  <a:srgbClr val="9C27B0"/>
                </a:solidFill>
                <a:latin typeface="Calibri"/>
              </a:defRPr>
            </a:pPr>
            <a:r>
              <a:t>105</a:t>
            </a:r>
          </a:p>
        </p:txBody>
      </p:sp>
      <p:sp>
        <p:nvSpPr>
          <p:cNvPr id="6" name="TextBox 5"/>
          <p:cNvSpPr txBox="1"/>
          <p:nvPr/>
        </p:nvSpPr>
        <p:spPr>
          <a:xfrm>
            <a:off x="1097280" y="2651760"/>
            <a:ext cx="9966960" cy="365760"/>
          </a:xfrm>
          <a:prstGeom prst="rect">
            <a:avLst/>
          </a:prstGeom>
          <a:noFill/>
        </p:spPr>
        <p:txBody>
          <a:bodyPr wrap="square">
            <a:spAutoFit/>
          </a:bodyPr>
          <a:lstStyle/>
          <a:p>
            <a:pPr algn="l">
              <a:defRPr sz="1400" b="0" i="0">
                <a:solidFill>
                  <a:srgbClr val="E2E2EA"/>
                </a:solidFill>
                <a:latin typeface="Calibri"/>
              </a:defRPr>
            </a:pPr>
            <a:r>
              <a:t>from Multiple Team Members</a:t>
            </a:r>
          </a:p>
        </p:txBody>
      </p:sp>
      <p:sp>
        <p:nvSpPr>
          <p:cNvPr id="7" name="TextBox 6"/>
          <p:cNvSpPr txBox="1"/>
          <p:nvPr/>
        </p:nvSpPr>
        <p:spPr>
          <a:xfrm>
            <a:off x="1097280" y="3108960"/>
            <a:ext cx="9966960" cy="365760"/>
          </a:xfrm>
          <a:prstGeom prst="rect">
            <a:avLst/>
          </a:prstGeom>
          <a:noFill/>
        </p:spPr>
        <p:txBody>
          <a:bodyPr wrap="square">
            <a:spAutoFit/>
          </a:bodyPr>
          <a:lstStyle/>
          <a:p>
            <a:pPr algn="l">
              <a:defRPr sz="1400" b="1" i="0">
                <a:solidFill>
                  <a:srgbClr val="FFFFFF"/>
                </a:solidFill>
                <a:latin typeface="Calibri"/>
              </a:defRPr>
            </a:pPr>
            <a:r>
              <a:t>to: Sergio-Yersi Villegas</a:t>
            </a:r>
          </a:p>
        </p:txBody>
      </p:sp>
      <p:sp>
        <p:nvSpPr>
          <p:cNvPr id="8" name="TextBox 7"/>
          <p:cNvSpPr txBox="1"/>
          <p:nvPr/>
        </p:nvSpPr>
        <p:spPr>
          <a:xfrm>
            <a:off x="1097280" y="3749039"/>
            <a:ext cx="9966960" cy="1097280"/>
          </a:xfrm>
          <a:prstGeom prst="rect">
            <a:avLst/>
          </a:prstGeom>
          <a:noFill/>
        </p:spPr>
        <p:txBody>
          <a:bodyPr wrap="square">
            <a:spAutoFit/>
          </a:bodyPr>
          <a:lstStyle/>
          <a:p>
            <a:pPr algn="l">
              <a:defRPr sz="1500" b="0" i="1">
                <a:solidFill>
                  <a:srgbClr val="E2E2EA"/>
                </a:solidFill>
                <a:latin typeface="Calibri"/>
              </a:defRPr>
            </a:pPr>
            <a:r>
              <a:t>"Outstanding data science contributions and collaboration"</a:t>
            </a:r>
          </a:p>
        </p:txBody>
      </p:sp>
      <p:sp>
        <p:nvSpPr>
          <p:cNvPr id="9" name="TextBox 8"/>
          <p:cNvSpPr txBox="1"/>
          <p:nvPr/>
        </p:nvSpPr>
        <p:spPr>
          <a:xfrm>
            <a:off x="1097280" y="5120640"/>
            <a:ext cx="9966960" cy="457200"/>
          </a:xfrm>
          <a:prstGeom prst="rect">
            <a:avLst/>
          </a:prstGeom>
          <a:noFill/>
        </p:spPr>
        <p:txBody>
          <a:bodyPr wrap="square">
            <a:spAutoFit/>
          </a:bodyPr>
          <a:lstStyle/>
          <a:p>
            <a:pPr algn="l">
              <a:defRPr sz="1200" b="1" i="0">
                <a:solidFill>
                  <a:srgbClr val="9C27B0"/>
                </a:solidFill>
                <a:latin typeface="Calibri"/>
              </a:defRPr>
            </a:pPr>
            <a:r>
              <a:t>Excellence · Teamwork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6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6F00"/>
                </a:solidFill>
                <a:latin typeface="Calibri"/>
              </a:defRPr>
            </a:pPr>
            <a:r>
              <a:t>🙌  CLAPS</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6F00"/>
                </a:solidFill>
                <a:latin typeface="Calibri"/>
              </a:defRPr>
            </a:pPr>
            <a:r>
              <a:t>Recognition Wave</a:t>
            </a:r>
          </a:p>
        </p:txBody>
      </p:sp>
      <p:sp>
        <p:nvSpPr>
          <p:cNvPr id="5" name="TextBox 4"/>
          <p:cNvSpPr txBox="1"/>
          <p:nvPr/>
        </p:nvSpPr>
        <p:spPr>
          <a:xfrm>
            <a:off x="1097280" y="2103120"/>
            <a:ext cx="2743200" cy="548640"/>
          </a:xfrm>
          <a:prstGeom prst="rect">
            <a:avLst/>
          </a:prstGeom>
          <a:noFill/>
        </p:spPr>
        <p:txBody>
          <a:bodyPr wrap="square">
            <a:spAutoFit/>
          </a:bodyPr>
          <a:lstStyle/>
          <a:p>
            <a:pPr algn="l">
              <a:defRPr sz="2800" b="1" i="0">
                <a:solidFill>
                  <a:srgbClr val="FF6F00"/>
                </a:solidFill>
                <a:latin typeface="Calibri"/>
              </a:defRPr>
            </a:pPr>
            <a:r>
              <a:t>30</a:t>
            </a:r>
          </a:p>
        </p:txBody>
      </p:sp>
      <p:sp>
        <p:nvSpPr>
          <p:cNvPr id="6" name="TextBox 5"/>
          <p:cNvSpPr txBox="1"/>
          <p:nvPr/>
        </p:nvSpPr>
        <p:spPr>
          <a:xfrm>
            <a:off x="1097280" y="2651760"/>
            <a:ext cx="9966960" cy="365760"/>
          </a:xfrm>
          <a:prstGeom prst="rect">
            <a:avLst/>
          </a:prstGeom>
          <a:noFill/>
        </p:spPr>
        <p:txBody>
          <a:bodyPr wrap="square">
            <a:spAutoFit/>
          </a:bodyPr>
          <a:lstStyle/>
          <a:p>
            <a:pPr algn="l">
              <a:defRPr sz="1400" b="0" i="0">
                <a:solidFill>
                  <a:srgbClr val="E2E2EA"/>
                </a:solidFill>
                <a:latin typeface="Calibri"/>
              </a:defRPr>
            </a:pPr>
            <a:r>
              <a:t>from Gleb Krahotkin</a:t>
            </a:r>
          </a:p>
        </p:txBody>
      </p:sp>
      <p:sp>
        <p:nvSpPr>
          <p:cNvPr id="7" name="TextBox 6"/>
          <p:cNvSpPr txBox="1"/>
          <p:nvPr/>
        </p:nvSpPr>
        <p:spPr>
          <a:xfrm>
            <a:off x="1097280" y="3108960"/>
            <a:ext cx="9966960" cy="365760"/>
          </a:xfrm>
          <a:prstGeom prst="rect">
            <a:avLst/>
          </a:prstGeom>
          <a:noFill/>
        </p:spPr>
        <p:txBody>
          <a:bodyPr wrap="square">
            <a:spAutoFit/>
          </a:bodyPr>
          <a:lstStyle/>
          <a:p>
            <a:pPr algn="l">
              <a:defRPr sz="1400" b="1" i="0">
                <a:solidFill>
                  <a:srgbClr val="FFFFFF"/>
                </a:solidFill>
                <a:latin typeface="Calibri"/>
              </a:defRPr>
            </a:pPr>
            <a:r>
              <a:t>to: Sasha Sakovich</a:t>
            </a:r>
          </a:p>
        </p:txBody>
      </p:sp>
      <p:sp>
        <p:nvSpPr>
          <p:cNvPr id="8" name="TextBox 7"/>
          <p:cNvSpPr txBox="1"/>
          <p:nvPr/>
        </p:nvSpPr>
        <p:spPr>
          <a:xfrm>
            <a:off x="1097280" y="3749039"/>
            <a:ext cx="9966960" cy="1097280"/>
          </a:xfrm>
          <a:prstGeom prst="rect">
            <a:avLst/>
          </a:prstGeom>
          <a:noFill/>
        </p:spPr>
        <p:txBody>
          <a:bodyPr wrap="square">
            <a:spAutoFit/>
          </a:bodyPr>
          <a:lstStyle/>
          <a:p>
            <a:pPr algn="l">
              <a:defRPr sz="1500" b="0" i="1">
                <a:solidFill>
                  <a:srgbClr val="E2E2EA"/>
                </a:solidFill>
                <a:latin typeface="Calibri"/>
              </a:defRPr>
            </a:pPr>
            <a:r>
              <a:t>"Exceptional automation engineering work and system improvements"</a:t>
            </a:r>
          </a:p>
        </p:txBody>
      </p:sp>
      <p:sp>
        <p:nvSpPr>
          <p:cNvPr id="9" name="TextBox 8"/>
          <p:cNvSpPr txBox="1"/>
          <p:nvPr/>
        </p:nvSpPr>
        <p:spPr>
          <a:xfrm>
            <a:off x="1097280" y="5120640"/>
            <a:ext cx="9966960" cy="457200"/>
          </a:xfrm>
          <a:prstGeom prst="rect">
            <a:avLst/>
          </a:prstGeom>
          <a:noFill/>
        </p:spPr>
        <p:txBody>
          <a:bodyPr wrap="square">
            <a:spAutoFit/>
          </a:bodyPr>
          <a:lstStyle/>
          <a:p>
            <a:pPr algn="l">
              <a:defRPr sz="1200" b="1" i="0">
                <a:solidFill>
                  <a:srgbClr val="FF6F00"/>
                </a:solidFill>
                <a:latin typeface="Calibri"/>
              </a:defRPr>
            </a:pPr>
            <a:r>
              <a:t>Innovation · Technical Excellence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E91E63"/>
                </a:solidFill>
                <a:latin typeface="Calibri"/>
              </a:defRPr>
            </a:pPr>
            <a:r>
              <a:t>⭐  CLAPS</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E91E63"/>
                </a:solidFill>
                <a:latin typeface="Calibri"/>
              </a:defRPr>
            </a:pPr>
            <a:r>
              <a:t>Team Appreciation</a:t>
            </a:r>
          </a:p>
        </p:txBody>
      </p:sp>
      <p:sp>
        <p:nvSpPr>
          <p:cNvPr id="5" name="TextBox 4"/>
          <p:cNvSpPr txBox="1"/>
          <p:nvPr/>
        </p:nvSpPr>
        <p:spPr>
          <a:xfrm>
            <a:off x="1097280" y="2103120"/>
            <a:ext cx="2743200" cy="548640"/>
          </a:xfrm>
          <a:prstGeom prst="rect">
            <a:avLst/>
          </a:prstGeom>
          <a:noFill/>
        </p:spPr>
        <p:txBody>
          <a:bodyPr wrap="square">
            <a:spAutoFit/>
          </a:bodyPr>
          <a:lstStyle/>
          <a:p>
            <a:pPr algn="l">
              <a:defRPr sz="2800" b="1" i="0">
                <a:solidFill>
                  <a:srgbClr val="E91E63"/>
                </a:solidFill>
                <a:latin typeface="Calibri"/>
              </a:defRPr>
            </a:pPr>
            <a:r>
              <a:t>70</a:t>
            </a:r>
          </a:p>
        </p:txBody>
      </p:sp>
      <p:sp>
        <p:nvSpPr>
          <p:cNvPr id="6" name="TextBox 5"/>
          <p:cNvSpPr txBox="1"/>
          <p:nvPr/>
        </p:nvSpPr>
        <p:spPr>
          <a:xfrm>
            <a:off x="1097280" y="2651760"/>
            <a:ext cx="9966960" cy="365760"/>
          </a:xfrm>
          <a:prstGeom prst="rect">
            <a:avLst/>
          </a:prstGeom>
          <a:noFill/>
        </p:spPr>
        <p:txBody>
          <a:bodyPr wrap="square">
            <a:spAutoFit/>
          </a:bodyPr>
          <a:lstStyle/>
          <a:p>
            <a:pPr algn="l">
              <a:defRPr sz="1400" b="0" i="0">
                <a:solidFill>
                  <a:srgbClr val="E2E2EA"/>
                </a:solidFill>
                <a:latin typeface="Calibri"/>
              </a:defRPr>
            </a:pPr>
            <a:r>
              <a:t>from Team Leaders</a:t>
            </a:r>
          </a:p>
        </p:txBody>
      </p:sp>
      <p:sp>
        <p:nvSpPr>
          <p:cNvPr id="7" name="TextBox 6"/>
          <p:cNvSpPr txBox="1"/>
          <p:nvPr/>
        </p:nvSpPr>
        <p:spPr>
          <a:xfrm>
            <a:off x="1097280" y="3108960"/>
            <a:ext cx="9966960" cy="365760"/>
          </a:xfrm>
          <a:prstGeom prst="rect">
            <a:avLst/>
          </a:prstGeom>
          <a:noFill/>
        </p:spPr>
        <p:txBody>
          <a:bodyPr wrap="square">
            <a:spAutoFit/>
          </a:bodyPr>
          <a:lstStyle/>
          <a:p>
            <a:pPr algn="l">
              <a:defRPr sz="1400" b="1" i="0">
                <a:solidFill>
                  <a:srgbClr val="FFFFFF"/>
                </a:solidFill>
                <a:latin typeface="Calibri"/>
              </a:defRPr>
            </a:pPr>
            <a:r>
              <a:t>to: Danila Matveev</a:t>
            </a:r>
          </a:p>
        </p:txBody>
      </p:sp>
      <p:sp>
        <p:nvSpPr>
          <p:cNvPr id="8" name="TextBox 7"/>
          <p:cNvSpPr txBox="1"/>
          <p:nvPr/>
        </p:nvSpPr>
        <p:spPr>
          <a:xfrm>
            <a:off x="1097280" y="3749039"/>
            <a:ext cx="9966960" cy="1097280"/>
          </a:xfrm>
          <a:prstGeom prst="rect">
            <a:avLst/>
          </a:prstGeom>
          <a:noFill/>
        </p:spPr>
        <p:txBody>
          <a:bodyPr wrap="square">
            <a:spAutoFit/>
          </a:bodyPr>
          <a:lstStyle/>
          <a:p>
            <a:pPr algn="l">
              <a:defRPr sz="1500" b="0" i="1">
                <a:solidFill>
                  <a:srgbClr val="E2E2EA"/>
                </a:solidFill>
                <a:latin typeface="Calibri"/>
              </a:defRPr>
            </a:pPr>
            <a:r>
              <a:t>"Senior software development excellence and mentorship"</a:t>
            </a:r>
          </a:p>
        </p:txBody>
      </p:sp>
      <p:sp>
        <p:nvSpPr>
          <p:cNvPr id="9" name="TextBox 8"/>
          <p:cNvSpPr txBox="1"/>
          <p:nvPr/>
        </p:nvSpPr>
        <p:spPr>
          <a:xfrm>
            <a:off x="1097280" y="5120640"/>
            <a:ext cx="9966960" cy="457200"/>
          </a:xfrm>
          <a:prstGeom prst="rect">
            <a:avLst/>
          </a:prstGeom>
          <a:noFill/>
        </p:spPr>
        <p:txBody>
          <a:bodyPr wrap="square">
            <a:spAutoFit/>
          </a:bodyPr>
          <a:lstStyle/>
          <a:p>
            <a:pPr algn="l">
              <a:defRPr sz="1200" b="1" i="0">
                <a:solidFill>
                  <a:srgbClr val="E91E63"/>
                </a:solidFill>
                <a:latin typeface="Calibri"/>
              </a:defRPr>
            </a:pPr>
            <a:r>
              <a:t>Leadership · Growth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3F51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3F51B5"/>
                </a:solidFill>
                <a:latin typeface="Calibri"/>
              </a:defRPr>
            </a:pPr>
            <a:r>
              <a:t>🏗️  MILESTONE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3F51B5"/>
                </a:solidFill>
                <a:latin typeface="Calibri"/>
              </a:defRPr>
            </a:pPr>
            <a:r>
              <a:t>SDK Evolution Milestone</a:t>
            </a:r>
          </a:p>
        </p:txBody>
      </p:sp>
      <p:sp>
        <p:nvSpPr>
          <p:cNvPr id="5" name="TextBox 4"/>
          <p:cNvSpPr txBox="1"/>
          <p:nvPr/>
        </p:nvSpPr>
        <p:spPr>
          <a:xfrm>
            <a:off x="1097280" y="2103120"/>
            <a:ext cx="4572000" cy="822960"/>
          </a:xfrm>
          <a:prstGeom prst="rect">
            <a:avLst/>
          </a:prstGeom>
          <a:noFill/>
        </p:spPr>
        <p:txBody>
          <a:bodyPr wrap="square">
            <a:spAutoFit/>
          </a:bodyPr>
          <a:lstStyle/>
          <a:p>
            <a:pPr algn="l">
              <a:defRPr sz="5200" b="1" i="0">
                <a:solidFill>
                  <a:srgbClr val="3F51B5"/>
                </a:solidFill>
                <a:latin typeface="Calibri"/>
              </a:defRPr>
            </a:pPr>
            <a:r>
              <a:t>100%</a:t>
            </a:r>
          </a:p>
        </p:txBody>
      </p:sp>
      <p:sp>
        <p:nvSpPr>
          <p:cNvPr id="6" name="TextBox 5"/>
          <p:cNvSpPr txBox="1"/>
          <p:nvPr/>
        </p:nvSpPr>
        <p:spPr>
          <a:xfrm>
            <a:off x="1097280" y="2926080"/>
            <a:ext cx="4572000" cy="365760"/>
          </a:xfrm>
          <a:prstGeom prst="rect">
            <a:avLst/>
          </a:prstGeom>
          <a:noFill/>
        </p:spPr>
        <p:txBody>
          <a:bodyPr wrap="square">
            <a:spAutoFit/>
          </a:bodyPr>
          <a:lstStyle/>
          <a:p>
            <a:pPr algn="l">
              <a:defRPr sz="1100" b="0" i="0">
                <a:solidFill>
                  <a:srgbClr val="8F95A3"/>
                </a:solidFill>
                <a:latin typeface="Calibri"/>
              </a:defRPr>
            </a:pPr>
            <a:r>
              <a:t>mediation migration planned</a:t>
            </a:r>
          </a:p>
        </p:txBody>
      </p:sp>
      <p:sp>
        <p:nvSpPr>
          <p:cNvPr id="7" name="TextBox 6"/>
          <p:cNvSpPr txBox="1"/>
          <p:nvPr/>
        </p:nvSpPr>
        <p:spPr>
          <a:xfrm>
            <a:off x="1097280" y="3566160"/>
            <a:ext cx="9966960" cy="457200"/>
          </a:xfrm>
          <a:prstGeom prst="rect">
            <a:avLst/>
          </a:prstGeom>
          <a:noFill/>
        </p:spPr>
        <p:txBody>
          <a:bodyPr wrap="square">
            <a:spAutoFit/>
          </a:bodyPr>
          <a:lstStyle/>
          <a:p>
            <a:pPr algn="l">
              <a:defRPr sz="1800" b="1" i="0">
                <a:solidFill>
                  <a:srgbClr val="FFFFFF"/>
                </a:solidFill>
                <a:latin typeface="Calibri"/>
              </a:defRPr>
            </a:pPr>
            <a:r>
              <a:t>BitMachine SDK Takes Center Stage</a:t>
            </a:r>
          </a:p>
        </p:txBody>
      </p:sp>
      <p:sp>
        <p:nvSpPr>
          <p:cNvPr id="8" name="TextBox 7"/>
          <p:cNvSpPr txBox="1"/>
          <p:nvPr/>
        </p:nvSpPr>
        <p:spPr>
          <a:xfrm>
            <a:off x="1097280" y="4206240"/>
            <a:ext cx="9966960" cy="1371600"/>
          </a:xfrm>
          <a:prstGeom prst="rect">
            <a:avLst/>
          </a:prstGeom>
          <a:noFill/>
        </p:spPr>
        <p:txBody>
          <a:bodyPr wrap="square">
            <a:spAutoFit/>
          </a:bodyPr>
          <a:lstStyle/>
          <a:p>
            <a:pPr algn="l">
              <a:defRPr sz="1500" b="0" i="0">
                <a:solidFill>
                  <a:srgbClr val="E2E2EA"/>
                </a:solidFill>
                <a:latin typeface="Calibri"/>
              </a:defRPr>
            </a:pPr>
            <a:r>
              <a:t>Major architectural decision confirmed: full mediation capabilities are transitioning from legacy Apodil to BitMachine SDK. This consolidation will simplify integrations and end legacy support, focusing our engineering power on next-generation solutions.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4CAF50"/>
                </a:solidFill>
                <a:latin typeface="Calibri"/>
              </a:defRPr>
            </a:pPr>
            <a:r>
              <a:t>🤖  WIN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4CAF50"/>
                </a:solidFill>
                <a:latin typeface="Calibri"/>
              </a:defRPr>
            </a:pPr>
            <a:r>
              <a:t>AI Automation Breakthrough</a:t>
            </a:r>
          </a:p>
        </p:txBody>
      </p:sp>
      <p:sp>
        <p:nvSpPr>
          <p:cNvPr id="5" name="TextBox 4"/>
          <p:cNvSpPr txBox="1"/>
          <p:nvPr/>
        </p:nvSpPr>
        <p:spPr>
          <a:xfrm>
            <a:off x="1097280" y="2103120"/>
            <a:ext cx="4572000" cy="822960"/>
          </a:xfrm>
          <a:prstGeom prst="rect">
            <a:avLst/>
          </a:prstGeom>
          <a:noFill/>
        </p:spPr>
        <p:txBody>
          <a:bodyPr wrap="square">
            <a:spAutoFit/>
          </a:bodyPr>
          <a:lstStyle/>
          <a:p>
            <a:pPr algn="l">
              <a:defRPr sz="4800" b="1" i="0">
                <a:solidFill>
                  <a:srgbClr val="4CAF50"/>
                </a:solidFill>
                <a:latin typeface="Calibri"/>
              </a:defRPr>
            </a:pPr>
            <a:r>
              <a:t>$4k</a:t>
            </a:r>
          </a:p>
        </p:txBody>
      </p:sp>
      <p:sp>
        <p:nvSpPr>
          <p:cNvPr id="6" name="TextBox 5"/>
          <p:cNvSpPr txBox="1"/>
          <p:nvPr/>
        </p:nvSpPr>
        <p:spPr>
          <a:xfrm>
            <a:off x="1097280" y="2834640"/>
            <a:ext cx="4572000" cy="365760"/>
          </a:xfrm>
          <a:prstGeom prst="rect">
            <a:avLst/>
          </a:prstGeom>
          <a:noFill/>
        </p:spPr>
        <p:txBody>
          <a:bodyPr wrap="square">
            <a:spAutoFit/>
          </a:bodyPr>
          <a:lstStyle/>
          <a:p>
            <a:pPr algn="l">
              <a:defRPr sz="1200" b="0" i="0">
                <a:solidFill>
                  <a:srgbClr val="8F95A3"/>
                </a:solidFill>
                <a:latin typeface="Calibri"/>
              </a:defRPr>
            </a:pPr>
            <a:r>
              <a:t>weekly savings potential</a:t>
            </a:r>
          </a:p>
        </p:txBody>
      </p:sp>
      <p:sp>
        <p:nvSpPr>
          <p:cNvPr id="7" name="TextBox 6"/>
          <p:cNvSpPr txBox="1"/>
          <p:nvPr/>
        </p:nvSpPr>
        <p:spPr>
          <a:xfrm>
            <a:off x="1097280" y="3291840"/>
            <a:ext cx="9966960" cy="365760"/>
          </a:xfrm>
          <a:prstGeom prst="rect">
            <a:avLst/>
          </a:prstGeom>
          <a:noFill/>
        </p:spPr>
        <p:txBody>
          <a:bodyPr wrap="square">
            <a:spAutoFit/>
          </a:bodyPr>
          <a:lstStyle/>
          <a:p>
            <a:pPr algn="l">
              <a:defRPr sz="1400" b="0" i="0">
                <a:solidFill>
                  <a:srgbClr val="E2E2EA"/>
                </a:solidFill>
                <a:latin typeface="Calibri"/>
              </a:defRPr>
            </a:pPr>
            <a:r>
              <a:t>by Supply Team &amp; AI Development</a:t>
            </a:r>
          </a:p>
        </p:txBody>
      </p:sp>
      <p:sp>
        <p:nvSpPr>
          <p:cNvPr id="8" name="TextBox 7"/>
          <p:cNvSpPr txBox="1"/>
          <p:nvPr/>
        </p:nvSpPr>
        <p:spPr>
          <a:xfrm>
            <a:off x="1097280" y="3840480"/>
            <a:ext cx="9966960" cy="457200"/>
          </a:xfrm>
          <a:prstGeom prst="rect">
            <a:avLst/>
          </a:prstGeom>
          <a:noFill/>
        </p:spPr>
        <p:txBody>
          <a:bodyPr wrap="square">
            <a:spAutoFit/>
          </a:bodyPr>
          <a:lstStyle/>
          <a:p>
            <a:pPr algn="l">
              <a:defRPr sz="1800" b="1" i="0">
                <a:solidFill>
                  <a:srgbClr val="FFFFFF"/>
                </a:solidFill>
                <a:latin typeface="Calibri"/>
              </a:defRPr>
            </a:pPr>
            <a:r>
              <a:t>AI Agent Ready for Production Testing</a:t>
            </a:r>
          </a:p>
        </p:txBody>
      </p:sp>
      <p:sp>
        <p:nvSpPr>
          <p:cNvPr id="9" name="TextBox 8"/>
          <p:cNvSpPr txBox="1"/>
          <p:nvPr/>
        </p:nvSpPr>
        <p:spPr>
          <a:xfrm>
            <a:off x="1097280" y="4389120"/>
            <a:ext cx="9966960" cy="914400"/>
          </a:xfrm>
          <a:prstGeom prst="rect">
            <a:avLst/>
          </a:prstGeom>
          <a:noFill/>
        </p:spPr>
        <p:txBody>
          <a:bodyPr wrap="square">
            <a:spAutoFit/>
          </a:bodyPr>
          <a:lstStyle/>
          <a:p>
            <a:pPr algn="l">
              <a:defRPr sz="1400" b="0" i="0">
                <a:solidFill>
                  <a:srgbClr val="E2E2EA"/>
                </a:solidFill>
                <a:latin typeface="Calibri"/>
              </a:defRPr>
            </a:pPr>
            <a:r>
              <a:t>Our AI bot successfully passed staging tests and can now read bidders, respond to queries, and automate routine dashboard tasks like domain updates and bundle blocking. This addresses the high volume of manual publisher requests.</a:t>
            </a:r>
          </a:p>
        </p:txBody>
      </p:sp>
      <p:sp>
        <p:nvSpPr>
          <p:cNvPr id="10" name="TextBox 9"/>
          <p:cNvSpPr txBox="1"/>
          <p:nvPr/>
        </p:nvSpPr>
        <p:spPr>
          <a:xfrm>
            <a:off x="1097280" y="5486400"/>
            <a:ext cx="9966960" cy="457200"/>
          </a:xfrm>
          <a:prstGeom prst="rect">
            <a:avLst/>
          </a:prstGeom>
          <a:noFill/>
        </p:spPr>
        <p:txBody>
          <a:bodyPr wrap="square">
            <a:spAutoFit/>
          </a:bodyPr>
          <a:lstStyle/>
          <a:p>
            <a:pPr algn="l">
              <a:defRPr sz="1300" b="0" i="1">
                <a:solidFill>
                  <a:srgbClr val="8F95A3"/>
                </a:solidFill>
                <a:latin typeface="Calibri"/>
              </a:defRPr>
            </a:pPr>
            <a:r>
              <a:t>💬 "From manual tasks to AI automation - we're building the future of operational efficiency."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9800"/>
                </a:solidFill>
                <a:latin typeface="Calibri"/>
              </a:defRPr>
            </a:pPr>
            <a:r>
              <a:t>📊  MILESTONE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9800"/>
                </a:solidFill>
                <a:latin typeface="Calibri"/>
              </a:defRPr>
            </a:pPr>
            <a:r>
              <a:t>Revenue Strategy Alignment</a:t>
            </a:r>
          </a:p>
        </p:txBody>
      </p:sp>
      <p:sp>
        <p:nvSpPr>
          <p:cNvPr id="5" name="TextBox 4"/>
          <p:cNvSpPr txBox="1"/>
          <p:nvPr/>
        </p:nvSpPr>
        <p:spPr>
          <a:xfrm>
            <a:off x="1097280" y="2103120"/>
            <a:ext cx="4572000" cy="822960"/>
          </a:xfrm>
          <a:prstGeom prst="rect">
            <a:avLst/>
          </a:prstGeom>
          <a:noFill/>
        </p:spPr>
        <p:txBody>
          <a:bodyPr wrap="square">
            <a:spAutoFit/>
          </a:bodyPr>
          <a:lstStyle/>
          <a:p>
            <a:pPr algn="l">
              <a:defRPr sz="5200" b="1" i="0">
                <a:solidFill>
                  <a:srgbClr val="FF9800"/>
                </a:solidFill>
                <a:latin typeface="Calibri"/>
              </a:defRPr>
            </a:pPr>
            <a:r>
              <a:t>$2k</a:t>
            </a:r>
          </a:p>
        </p:txBody>
      </p:sp>
      <p:sp>
        <p:nvSpPr>
          <p:cNvPr id="6" name="TextBox 5"/>
          <p:cNvSpPr txBox="1"/>
          <p:nvPr/>
        </p:nvSpPr>
        <p:spPr>
          <a:xfrm>
            <a:off x="1097280" y="2926080"/>
            <a:ext cx="4572000" cy="365760"/>
          </a:xfrm>
          <a:prstGeom prst="rect">
            <a:avLst/>
          </a:prstGeom>
          <a:noFill/>
        </p:spPr>
        <p:txBody>
          <a:bodyPr wrap="square">
            <a:spAutoFit/>
          </a:bodyPr>
          <a:lstStyle/>
          <a:p>
            <a:pPr algn="l">
              <a:defRPr sz="1100" b="0" i="0">
                <a:solidFill>
                  <a:srgbClr val="8F95A3"/>
                </a:solidFill>
                <a:latin typeface="Calibri"/>
              </a:defRPr>
            </a:pPr>
            <a:r>
              <a:t>daily experiment budget</a:t>
            </a:r>
          </a:p>
        </p:txBody>
      </p:sp>
      <p:sp>
        <p:nvSpPr>
          <p:cNvPr id="7" name="TextBox 6"/>
          <p:cNvSpPr txBox="1"/>
          <p:nvPr/>
        </p:nvSpPr>
        <p:spPr>
          <a:xfrm>
            <a:off x="1097280" y="3566160"/>
            <a:ext cx="9966960" cy="457200"/>
          </a:xfrm>
          <a:prstGeom prst="rect">
            <a:avLst/>
          </a:prstGeom>
          <a:noFill/>
        </p:spPr>
        <p:txBody>
          <a:bodyPr wrap="square">
            <a:spAutoFit/>
          </a:bodyPr>
          <a:lstStyle/>
          <a:p>
            <a:pPr algn="l">
              <a:defRPr sz="1800" b="1" i="0">
                <a:solidFill>
                  <a:srgbClr val="FFFFFF"/>
                </a:solidFill>
                <a:latin typeface="Calibri"/>
              </a:defRPr>
            </a:pPr>
            <a:r>
              <a:t>Q2 2026 Financial Projections Refined</a:t>
            </a:r>
          </a:p>
        </p:txBody>
      </p:sp>
      <p:sp>
        <p:nvSpPr>
          <p:cNvPr id="8" name="TextBox 7"/>
          <p:cNvSpPr txBox="1"/>
          <p:nvPr/>
        </p:nvSpPr>
        <p:spPr>
          <a:xfrm>
            <a:off x="1097280" y="4206240"/>
            <a:ext cx="9966960" cy="1371600"/>
          </a:xfrm>
          <a:prstGeom prst="rect">
            <a:avLst/>
          </a:prstGeom>
          <a:noFill/>
        </p:spPr>
        <p:txBody>
          <a:bodyPr wrap="square">
            <a:spAutoFit/>
          </a:bodyPr>
          <a:lstStyle/>
          <a:p>
            <a:pPr algn="l">
              <a:defRPr sz="1500" b="0" i="0">
                <a:solidFill>
                  <a:srgbClr val="E2E2EA"/>
                </a:solidFill>
                <a:latin typeface="Calibri"/>
              </a:defRPr>
            </a:pPr>
            <a:r>
              <a:t>Leadership aligned on revenue categorization between Autoplay and RevOps clients, incorporating Chardonnay's Tricky campaigns with 2% profit margins. Clear segmentation improves forecasting accuracy while accounting for negative margin learning phases.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E91E63"/>
                </a:solidFill>
                <a:latin typeface="Calibri"/>
              </a:defRPr>
            </a:pPr>
            <a:r>
              <a:t>🎮  WIN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E91E63"/>
                </a:solidFill>
                <a:latin typeface="Calibri"/>
              </a:defRPr>
            </a:pPr>
            <a:r>
              <a:t>Gaming Success Story</a:t>
            </a:r>
          </a:p>
        </p:txBody>
      </p:sp>
      <p:sp>
        <p:nvSpPr>
          <p:cNvPr id="5" name="TextBox 4"/>
          <p:cNvSpPr txBox="1"/>
          <p:nvPr/>
        </p:nvSpPr>
        <p:spPr>
          <a:xfrm>
            <a:off x="1097280" y="2103120"/>
            <a:ext cx="4572000" cy="822960"/>
          </a:xfrm>
          <a:prstGeom prst="rect">
            <a:avLst/>
          </a:prstGeom>
          <a:noFill/>
        </p:spPr>
        <p:txBody>
          <a:bodyPr wrap="square">
            <a:spAutoFit/>
          </a:bodyPr>
          <a:lstStyle/>
          <a:p>
            <a:pPr algn="l">
              <a:defRPr sz="4800" b="1" i="0">
                <a:solidFill>
                  <a:srgbClr val="E91E63"/>
                </a:solidFill>
                <a:latin typeface="Calibri"/>
              </a:defRPr>
            </a:pPr>
            <a:r>
              <a:t>61%</a:t>
            </a:r>
          </a:p>
        </p:txBody>
      </p:sp>
      <p:sp>
        <p:nvSpPr>
          <p:cNvPr id="6" name="TextBox 5"/>
          <p:cNvSpPr txBox="1"/>
          <p:nvPr/>
        </p:nvSpPr>
        <p:spPr>
          <a:xfrm>
            <a:off x="1097280" y="2834640"/>
            <a:ext cx="4572000" cy="365760"/>
          </a:xfrm>
          <a:prstGeom prst="rect">
            <a:avLst/>
          </a:prstGeom>
          <a:noFill/>
        </p:spPr>
        <p:txBody>
          <a:bodyPr wrap="square">
            <a:spAutoFit/>
          </a:bodyPr>
          <a:lstStyle/>
          <a:p>
            <a:pPr algn="l">
              <a:defRPr sz="1200" b="0" i="0">
                <a:solidFill>
                  <a:srgbClr val="8F95A3"/>
                </a:solidFill>
                <a:latin typeface="Calibri"/>
              </a:defRPr>
            </a:pPr>
            <a:r>
              <a:t>retention rate</a:t>
            </a:r>
          </a:p>
        </p:txBody>
      </p:sp>
      <p:sp>
        <p:nvSpPr>
          <p:cNvPr id="7" name="TextBox 6"/>
          <p:cNvSpPr txBox="1"/>
          <p:nvPr/>
        </p:nvSpPr>
        <p:spPr>
          <a:xfrm>
            <a:off x="1097280" y="3291840"/>
            <a:ext cx="9966960" cy="365760"/>
          </a:xfrm>
          <a:prstGeom prst="rect">
            <a:avLst/>
          </a:prstGeom>
          <a:noFill/>
        </p:spPr>
        <p:txBody>
          <a:bodyPr wrap="square">
            <a:spAutoFit/>
          </a:bodyPr>
          <a:lstStyle/>
          <a:p>
            <a:pPr algn="l">
              <a:defRPr sz="1400" b="0" i="0">
                <a:solidFill>
                  <a:srgbClr val="E2E2EA"/>
                </a:solidFill>
                <a:latin typeface="Calibri"/>
              </a:defRPr>
            </a:pPr>
            <a:r>
              <a:t>by Gaming Division</a:t>
            </a:r>
          </a:p>
        </p:txBody>
      </p:sp>
      <p:sp>
        <p:nvSpPr>
          <p:cNvPr id="8" name="TextBox 7"/>
          <p:cNvSpPr txBox="1"/>
          <p:nvPr/>
        </p:nvSpPr>
        <p:spPr>
          <a:xfrm>
            <a:off x="1097280" y="3840480"/>
            <a:ext cx="9966960" cy="457200"/>
          </a:xfrm>
          <a:prstGeom prst="rect">
            <a:avLst/>
          </a:prstGeom>
          <a:noFill/>
        </p:spPr>
        <p:txBody>
          <a:bodyPr wrap="square">
            <a:spAutoFit/>
          </a:bodyPr>
          <a:lstStyle/>
          <a:p>
            <a:pPr algn="l">
              <a:defRPr sz="1800" b="1" i="0">
                <a:solidFill>
                  <a:srgbClr val="FFFFFF"/>
                </a:solidFill>
                <a:latin typeface="Calibri"/>
              </a:defRPr>
            </a:pPr>
            <a:r>
              <a:t>Infinite Minesweeper Hits Apple Benchmark</a:t>
            </a:r>
          </a:p>
        </p:txBody>
      </p:sp>
      <p:sp>
        <p:nvSpPr>
          <p:cNvPr id="9" name="TextBox 8"/>
          <p:cNvSpPr txBox="1"/>
          <p:nvPr/>
        </p:nvSpPr>
        <p:spPr>
          <a:xfrm>
            <a:off x="1097280" y="4389120"/>
            <a:ext cx="9966960" cy="914400"/>
          </a:xfrm>
          <a:prstGeom prst="rect">
            <a:avLst/>
          </a:prstGeom>
          <a:noFill/>
        </p:spPr>
        <p:txBody>
          <a:bodyPr wrap="square">
            <a:spAutoFit/>
          </a:bodyPr>
          <a:lstStyle/>
          <a:p>
            <a:pPr algn="l">
              <a:defRPr sz="1400" b="0" i="0">
                <a:solidFill>
                  <a:srgbClr val="E2E2EA"/>
                </a:solidFill>
                <a:latin typeface="Calibri"/>
              </a:defRPr>
            </a:pPr>
            <a:r>
              <a:t>Our Infinite Minesweeper achieved 61% retention, placing it in Apple's ERA benchmark range of 151-160%. This success demonstrates our gaming division's ability to create engaging, high-retention experiences.</a:t>
            </a:r>
          </a:p>
        </p:txBody>
      </p:sp>
      <p:sp>
        <p:nvSpPr>
          <p:cNvPr id="10" name="TextBox 9"/>
          <p:cNvSpPr txBox="1"/>
          <p:nvPr/>
        </p:nvSpPr>
        <p:spPr>
          <a:xfrm>
            <a:off x="1097280" y="5486400"/>
            <a:ext cx="9966960" cy="457200"/>
          </a:xfrm>
          <a:prstGeom prst="rect">
            <a:avLst/>
          </a:prstGeom>
          <a:noFill/>
        </p:spPr>
        <p:txBody>
          <a:bodyPr wrap="square">
            <a:spAutoFit/>
          </a:bodyPr>
          <a:lstStyle/>
          <a:p>
            <a:pPr algn="l">
              <a:defRPr sz="1300" b="0" i="1">
                <a:solidFill>
                  <a:srgbClr val="8F95A3"/>
                </a:solidFill>
                <a:latin typeface="Calibri"/>
              </a:defRPr>
            </a:pPr>
            <a:r>
              <a:t>💬 "Gaming turned profitable in 2025 and continues delivering benchmark-beating results."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673A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673AB7"/>
                </a:solidFill>
                <a:latin typeface="Calibri"/>
              </a:defRPr>
            </a:pPr>
            <a:r>
              <a:t>🏢  MILESTONE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673AB7"/>
                </a:solidFill>
                <a:latin typeface="Calibri"/>
              </a:defRPr>
            </a:pPr>
            <a:r>
              <a:t>Vision 2030 Progress</a:t>
            </a:r>
          </a:p>
        </p:txBody>
      </p:sp>
      <p:sp>
        <p:nvSpPr>
          <p:cNvPr id="5" name="TextBox 4"/>
          <p:cNvSpPr txBox="1"/>
          <p:nvPr/>
        </p:nvSpPr>
        <p:spPr>
          <a:xfrm>
            <a:off x="1097280" y="2103120"/>
            <a:ext cx="4572000" cy="822960"/>
          </a:xfrm>
          <a:prstGeom prst="rect">
            <a:avLst/>
          </a:prstGeom>
          <a:noFill/>
        </p:spPr>
        <p:txBody>
          <a:bodyPr wrap="square">
            <a:spAutoFit/>
          </a:bodyPr>
          <a:lstStyle/>
          <a:p>
            <a:pPr algn="l">
              <a:defRPr sz="5200" b="1" i="0">
                <a:solidFill>
                  <a:srgbClr val="673AB7"/>
                </a:solidFill>
                <a:latin typeface="Calibri"/>
              </a:defRPr>
            </a:pPr>
            <a:r>
              <a:t>40%</a:t>
            </a:r>
          </a:p>
        </p:txBody>
      </p:sp>
      <p:sp>
        <p:nvSpPr>
          <p:cNvPr id="6" name="TextBox 5"/>
          <p:cNvSpPr txBox="1"/>
          <p:nvPr/>
        </p:nvSpPr>
        <p:spPr>
          <a:xfrm>
            <a:off x="1097280" y="2926080"/>
            <a:ext cx="4572000" cy="365760"/>
          </a:xfrm>
          <a:prstGeom prst="rect">
            <a:avLst/>
          </a:prstGeom>
          <a:noFill/>
        </p:spPr>
        <p:txBody>
          <a:bodyPr wrap="square">
            <a:spAutoFit/>
          </a:bodyPr>
          <a:lstStyle/>
          <a:p>
            <a:pPr algn="l">
              <a:defRPr sz="1100" b="0" i="0">
                <a:solidFill>
                  <a:srgbClr val="8F95A3"/>
                </a:solidFill>
                <a:latin typeface="Calibri"/>
              </a:defRPr>
            </a:pPr>
            <a:r>
              <a:t>YoY growth projected</a:t>
            </a:r>
          </a:p>
        </p:txBody>
      </p:sp>
      <p:sp>
        <p:nvSpPr>
          <p:cNvPr id="7" name="TextBox 6"/>
          <p:cNvSpPr txBox="1"/>
          <p:nvPr/>
        </p:nvSpPr>
        <p:spPr>
          <a:xfrm>
            <a:off x="1097280" y="3566160"/>
            <a:ext cx="9966960" cy="457200"/>
          </a:xfrm>
          <a:prstGeom prst="rect">
            <a:avLst/>
          </a:prstGeom>
          <a:noFill/>
        </p:spPr>
        <p:txBody>
          <a:bodyPr wrap="square">
            <a:spAutoFit/>
          </a:bodyPr>
          <a:lstStyle/>
          <a:p>
            <a:pPr algn="l">
              <a:defRPr sz="1800" b="1" i="0">
                <a:solidFill>
                  <a:srgbClr val="FFFFFF"/>
                </a:solidFill>
                <a:latin typeface="Calibri"/>
              </a:defRPr>
            </a:pPr>
            <a:r>
              <a:t>Building Toward $50B Company Goal</a:t>
            </a:r>
          </a:p>
        </p:txBody>
      </p:sp>
      <p:sp>
        <p:nvSpPr>
          <p:cNvPr id="8" name="TextBox 7"/>
          <p:cNvSpPr txBox="1"/>
          <p:nvPr/>
        </p:nvSpPr>
        <p:spPr>
          <a:xfrm>
            <a:off x="1097280" y="4206240"/>
            <a:ext cx="9966960" cy="1371600"/>
          </a:xfrm>
          <a:prstGeom prst="rect">
            <a:avLst/>
          </a:prstGeom>
          <a:noFill/>
        </p:spPr>
        <p:txBody>
          <a:bodyPr wrap="square">
            <a:spAutoFit/>
          </a:bodyPr>
          <a:lstStyle/>
          <a:p>
            <a:pPr algn="l">
              <a:defRPr sz="1500" b="0" i="0">
                <a:solidFill>
                  <a:srgbClr val="E2E2EA"/>
                </a:solidFill>
                <a:latin typeface="Calibri"/>
              </a:defRPr>
            </a:pPr>
            <a:r>
              <a:t>With $100M gross profit, $20M EBITDA, and 40% YoY growth projected, we're executing on our ambitious vision: 1,500 employees, 100 studios, and every team member managing 5-10 AI agents within 3-6 months.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443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44336"/>
                </a:solidFill>
                <a:latin typeface="Calibri"/>
              </a:defRPr>
            </a:pPr>
            <a:r>
              <a:t>🛡️  WIN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44336"/>
                </a:solidFill>
                <a:latin typeface="Calibri"/>
              </a:defRPr>
            </a:pPr>
            <a:r>
              <a:t>Security Excellence</a:t>
            </a:r>
          </a:p>
        </p:txBody>
      </p:sp>
      <p:sp>
        <p:nvSpPr>
          <p:cNvPr id="5" name="TextBox 4"/>
          <p:cNvSpPr txBox="1"/>
          <p:nvPr/>
        </p:nvSpPr>
        <p:spPr>
          <a:xfrm>
            <a:off x="1097280" y="2103120"/>
            <a:ext cx="4572000" cy="822960"/>
          </a:xfrm>
          <a:prstGeom prst="rect">
            <a:avLst/>
          </a:prstGeom>
          <a:noFill/>
        </p:spPr>
        <p:txBody>
          <a:bodyPr wrap="square">
            <a:spAutoFit/>
          </a:bodyPr>
          <a:lstStyle/>
          <a:p>
            <a:pPr algn="l">
              <a:defRPr sz="4800" b="1" i="0">
                <a:solidFill>
                  <a:srgbClr val="F44336"/>
                </a:solidFill>
                <a:latin typeface="Calibri"/>
              </a:defRPr>
            </a:pPr>
            <a:r>
              <a:t>4%</a:t>
            </a:r>
          </a:p>
        </p:txBody>
      </p:sp>
      <p:sp>
        <p:nvSpPr>
          <p:cNvPr id="6" name="TextBox 5"/>
          <p:cNvSpPr txBox="1"/>
          <p:nvPr/>
        </p:nvSpPr>
        <p:spPr>
          <a:xfrm>
            <a:off x="1097280" y="2834640"/>
            <a:ext cx="4572000" cy="365760"/>
          </a:xfrm>
          <a:prstGeom prst="rect">
            <a:avLst/>
          </a:prstGeom>
          <a:noFill/>
        </p:spPr>
        <p:txBody>
          <a:bodyPr wrap="square">
            <a:spAutoFit/>
          </a:bodyPr>
          <a:lstStyle/>
          <a:p>
            <a:pPr algn="l">
              <a:defRPr sz="1200" b="0" i="0">
                <a:solidFill>
                  <a:srgbClr val="8F95A3"/>
                </a:solidFill>
                <a:latin typeface="Calibri"/>
              </a:defRPr>
            </a:pPr>
            <a:r>
              <a:t>fraud rate (down from 22%)</a:t>
            </a:r>
          </a:p>
        </p:txBody>
      </p:sp>
      <p:sp>
        <p:nvSpPr>
          <p:cNvPr id="7" name="TextBox 6"/>
          <p:cNvSpPr txBox="1"/>
          <p:nvPr/>
        </p:nvSpPr>
        <p:spPr>
          <a:xfrm>
            <a:off x="1097280" y="3291840"/>
            <a:ext cx="9966960" cy="365760"/>
          </a:xfrm>
          <a:prstGeom prst="rect">
            <a:avLst/>
          </a:prstGeom>
          <a:noFill/>
        </p:spPr>
        <p:txBody>
          <a:bodyPr wrap="square">
            <a:spAutoFit/>
          </a:bodyPr>
          <a:lstStyle/>
          <a:p>
            <a:pPr algn="l">
              <a:defRPr sz="1400" b="0" i="0">
                <a:solidFill>
                  <a:srgbClr val="E2E2EA"/>
                </a:solidFill>
                <a:latin typeface="Calibri"/>
              </a:defRPr>
            </a:pPr>
            <a:r>
              <a:t>by Security &amp; Engineering Teams</a:t>
            </a:r>
          </a:p>
        </p:txBody>
      </p:sp>
      <p:sp>
        <p:nvSpPr>
          <p:cNvPr id="8" name="TextBox 7"/>
          <p:cNvSpPr txBox="1"/>
          <p:nvPr/>
        </p:nvSpPr>
        <p:spPr>
          <a:xfrm>
            <a:off x="1097280" y="3840480"/>
            <a:ext cx="9966960" cy="457200"/>
          </a:xfrm>
          <a:prstGeom prst="rect">
            <a:avLst/>
          </a:prstGeom>
          <a:noFill/>
        </p:spPr>
        <p:txBody>
          <a:bodyPr wrap="square">
            <a:spAutoFit/>
          </a:bodyPr>
          <a:lstStyle/>
          <a:p>
            <a:pPr algn="l">
              <a:defRPr sz="1800" b="1" i="0">
                <a:solidFill>
                  <a:srgbClr val="FFFFFF"/>
                </a:solidFill>
                <a:latin typeface="Calibri"/>
              </a:defRPr>
            </a:pPr>
            <a:r>
              <a:t>Fraud Prevention Success with Dynamic SDK</a:t>
            </a:r>
          </a:p>
        </p:txBody>
      </p:sp>
      <p:sp>
        <p:nvSpPr>
          <p:cNvPr id="9" name="TextBox 8"/>
          <p:cNvSpPr txBox="1"/>
          <p:nvPr/>
        </p:nvSpPr>
        <p:spPr>
          <a:xfrm>
            <a:off x="1097280" y="4389120"/>
            <a:ext cx="9966960" cy="914400"/>
          </a:xfrm>
          <a:prstGeom prst="rect">
            <a:avLst/>
          </a:prstGeom>
          <a:noFill/>
        </p:spPr>
        <p:txBody>
          <a:bodyPr wrap="square">
            <a:spAutoFit/>
          </a:bodyPr>
          <a:lstStyle/>
          <a:p>
            <a:pPr algn="l">
              <a:defRPr sz="1400" b="0" i="0">
                <a:solidFill>
                  <a:srgbClr val="E2E2EA"/>
                </a:solidFill>
                <a:latin typeface="Calibri"/>
              </a:defRPr>
            </a:pPr>
            <a:r>
              <a:t>Our dynamic SDK signatures implementation dramatically reduced fraud from 22% to under 4%. This technical achievement protects revenue while maintaining user experience quality.</a:t>
            </a:r>
          </a:p>
        </p:txBody>
      </p:sp>
      <p:sp>
        <p:nvSpPr>
          <p:cNvPr id="10" name="TextBox 9"/>
          <p:cNvSpPr txBox="1"/>
          <p:nvPr/>
        </p:nvSpPr>
        <p:spPr>
          <a:xfrm>
            <a:off x="1097280" y="5486400"/>
            <a:ext cx="9966960" cy="457200"/>
          </a:xfrm>
          <a:prstGeom prst="rect">
            <a:avLst/>
          </a:prstGeom>
          <a:noFill/>
        </p:spPr>
        <p:txBody>
          <a:bodyPr wrap="square">
            <a:spAutoFit/>
          </a:bodyPr>
          <a:lstStyle/>
          <a:p>
            <a:pPr algn="l">
              <a:defRPr sz="1300" b="0" i="1">
                <a:solidFill>
                  <a:srgbClr val="8F95A3"/>
                </a:solidFill>
                <a:latin typeface="Calibri"/>
              </a:defRPr>
            </a:pPr>
            <a:r>
              <a:t>💬 "Smart engineering solutions delivering measurable business impact and user protection."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96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9688"/>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9688"/>
                </a:solidFill>
                <a:latin typeface="Calibri"/>
              </a:defRPr>
            </a:pPr>
            <a:r>
              <a:t>Wellness Culture</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Daily Yoga Sessions Keep Team Centered</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"Join Anna Kolyada's daily yoga sessions at 13:10 CET - available both in office and online streaming"</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Team Wellness Initiative</a:t>
            </a:r>
          </a:p>
        </p:txBody>
      </p:sp>
      <p:sp>
        <p:nvSpPr>
          <p:cNvPr id="8" name="TextBox 7"/>
          <p:cNvSpPr txBox="1"/>
          <p:nvPr/>
        </p:nvSpPr>
        <p:spPr>
          <a:xfrm>
            <a:off x="1097280" y="5212080"/>
            <a:ext cx="9966960" cy="365760"/>
          </a:xfrm>
          <a:prstGeom prst="rect">
            <a:avLst/>
          </a:prstGeom>
          <a:noFill/>
        </p:spPr>
        <p:txBody>
          <a:bodyPr wrap="square">
            <a:spAutoFit/>
          </a:bodyPr>
          <a:lstStyle/>
          <a:p>
            <a:pPr algn="l">
              <a:defRPr sz="1400" b="1" i="0">
                <a:solidFill>
                  <a:srgbClr val="009688"/>
                </a:solidFill>
                <a:latin typeface="Calibri"/>
              </a:defRPr>
            </a:pPr>
            <a:r>
              <a:t>🧘‍♀️</a:t>
            </a:r>
          </a:p>
        </p:txBody>
      </p:sp>
      <p:sp>
        <p:nvSpPr>
          <p:cNvPr id="9" name="TextBox 8"/>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office culture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7955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795548"/>
                </a:solidFill>
                <a:latin typeface="Calibri"/>
              </a:defRPr>
            </a:pPr>
            <a:r>
              <a:t>🎯  MILESTONE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795548"/>
                </a:solidFill>
                <a:latin typeface="Calibri"/>
              </a:defRPr>
            </a:pPr>
            <a:r>
              <a:t>Sales Performance Win</a:t>
            </a:r>
          </a:p>
        </p:txBody>
      </p:sp>
      <p:sp>
        <p:nvSpPr>
          <p:cNvPr id="5" name="TextBox 4"/>
          <p:cNvSpPr txBox="1"/>
          <p:nvPr/>
        </p:nvSpPr>
        <p:spPr>
          <a:xfrm>
            <a:off x="1097280" y="2103120"/>
            <a:ext cx="4572000" cy="822960"/>
          </a:xfrm>
          <a:prstGeom prst="rect">
            <a:avLst/>
          </a:prstGeom>
          <a:noFill/>
        </p:spPr>
        <p:txBody>
          <a:bodyPr wrap="square">
            <a:spAutoFit/>
          </a:bodyPr>
          <a:lstStyle/>
          <a:p>
            <a:pPr algn="l">
              <a:defRPr sz="5200" b="1" i="0">
                <a:solidFill>
                  <a:srgbClr val="795548"/>
                </a:solidFill>
                <a:latin typeface="Calibri"/>
              </a:defRPr>
            </a:pPr>
            <a:r>
              <a:t>$390k</a:t>
            </a:r>
          </a:p>
        </p:txBody>
      </p:sp>
      <p:sp>
        <p:nvSpPr>
          <p:cNvPr id="6" name="TextBox 5"/>
          <p:cNvSpPr txBox="1"/>
          <p:nvPr/>
        </p:nvSpPr>
        <p:spPr>
          <a:xfrm>
            <a:off x="1097280" y="2926080"/>
            <a:ext cx="4572000" cy="365760"/>
          </a:xfrm>
          <a:prstGeom prst="rect">
            <a:avLst/>
          </a:prstGeom>
          <a:noFill/>
        </p:spPr>
        <p:txBody>
          <a:bodyPr wrap="square">
            <a:spAutoFit/>
          </a:bodyPr>
          <a:lstStyle/>
          <a:p>
            <a:pPr algn="l">
              <a:defRPr sz="1100" b="0" i="0">
                <a:solidFill>
                  <a:srgbClr val="8F95A3"/>
                </a:solidFill>
                <a:latin typeface="Calibri"/>
              </a:defRPr>
            </a:pPr>
            <a:r>
              <a:t>weekly net revenue</a:t>
            </a:r>
          </a:p>
        </p:txBody>
      </p:sp>
      <p:sp>
        <p:nvSpPr>
          <p:cNvPr id="7" name="TextBox 6"/>
          <p:cNvSpPr txBox="1"/>
          <p:nvPr/>
        </p:nvSpPr>
        <p:spPr>
          <a:xfrm>
            <a:off x="1097280" y="3566160"/>
            <a:ext cx="9966960" cy="457200"/>
          </a:xfrm>
          <a:prstGeom prst="rect">
            <a:avLst/>
          </a:prstGeom>
          <a:noFill/>
        </p:spPr>
        <p:txBody>
          <a:bodyPr wrap="square">
            <a:spAutoFit/>
          </a:bodyPr>
          <a:lstStyle/>
          <a:p>
            <a:pPr algn="l">
              <a:defRPr sz="1800" b="1" i="0">
                <a:solidFill>
                  <a:srgbClr val="FFFFFF"/>
                </a:solidFill>
                <a:latin typeface="Calibri"/>
              </a:defRPr>
            </a:pPr>
            <a:r>
              <a:t>Strong Weekly Sales Momentum</a:t>
            </a:r>
          </a:p>
        </p:txBody>
      </p:sp>
      <p:sp>
        <p:nvSpPr>
          <p:cNvPr id="8" name="TextBox 7"/>
          <p:cNvSpPr txBox="1"/>
          <p:nvPr/>
        </p:nvSpPr>
        <p:spPr>
          <a:xfrm>
            <a:off x="1097280" y="4206240"/>
            <a:ext cx="9966960" cy="1371600"/>
          </a:xfrm>
          <a:prstGeom prst="rect">
            <a:avLst/>
          </a:prstGeom>
          <a:noFill/>
        </p:spPr>
        <p:txBody>
          <a:bodyPr wrap="square">
            <a:spAutoFit/>
          </a:bodyPr>
          <a:lstStyle/>
          <a:p>
            <a:pPr algn="l">
              <a:defRPr sz="1500" b="0" i="0">
                <a:solidFill>
                  <a:srgbClr val="E2E2EA"/>
                </a:solidFill>
                <a:latin typeface="Calibri"/>
              </a:defRPr>
            </a:pPr>
            <a:r>
              <a:t>Our sales team closed 8 deals generating $390k net revenue in a single week, demonstrating strong market demand and effective sales execution across our product portfolio.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607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607D8B"/>
                </a:solidFill>
                <a:latin typeface="Calibri"/>
              </a:defRPr>
            </a:pPr>
            <a:r>
              <a:t>📚  EVENT</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607D8B"/>
                </a:solidFill>
                <a:latin typeface="Calibri"/>
              </a:defRPr>
            </a:pPr>
            <a:r>
              <a:t>Learning Community</a:t>
            </a:r>
          </a:p>
        </p:txBody>
      </p:sp>
      <p:sp>
        <p:nvSpPr>
          <p:cNvPr id="5" name="TextBox 4"/>
          <p:cNvSpPr txBox="1"/>
          <p:nvPr/>
        </p:nvSpPr>
        <p:spPr>
          <a:xfrm>
            <a:off x="1097280" y="2103120"/>
            <a:ext cx="9966960" cy="548640"/>
          </a:xfrm>
          <a:prstGeom prst="rect">
            <a:avLst/>
          </a:prstGeom>
          <a:noFill/>
        </p:spPr>
        <p:txBody>
          <a:bodyPr wrap="square">
            <a:spAutoFit/>
          </a:bodyPr>
          <a:lstStyle/>
          <a:p>
            <a:pPr algn="l">
              <a:defRPr sz="2200" b="1" i="0">
                <a:solidFill>
                  <a:srgbClr val="FFFFFF"/>
                </a:solidFill>
                <a:latin typeface="Calibri"/>
              </a:defRPr>
            </a:pPr>
            <a:r>
              <a:t>Book Club 'Passionate Curiosity'</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1" i="0">
                <a:solidFill>
                  <a:srgbClr val="607D8B"/>
                </a:solidFill>
                <a:latin typeface="Calibri"/>
              </a:defRPr>
            </a:pPr>
            <a:r>
              <a:t>Ongoing</a:t>
            </a:r>
          </a:p>
        </p:txBody>
      </p:sp>
      <p:sp>
        <p:nvSpPr>
          <p:cNvPr id="7" name="TextBox 6"/>
          <p:cNvSpPr txBox="1"/>
          <p:nvPr/>
        </p:nvSpPr>
        <p:spPr>
          <a:xfrm>
            <a:off x="1097280" y="3291840"/>
            <a:ext cx="9966960" cy="1371600"/>
          </a:xfrm>
          <a:prstGeom prst="rect">
            <a:avLst/>
          </a:prstGeom>
          <a:noFill/>
        </p:spPr>
        <p:txBody>
          <a:bodyPr wrap="square">
            <a:spAutoFit/>
          </a:bodyPr>
          <a:lstStyle/>
          <a:p>
            <a:pPr algn="l">
              <a:defRPr sz="1500" b="0" i="0">
                <a:solidFill>
                  <a:srgbClr val="E2E2EA"/>
                </a:solidFill>
                <a:latin typeface="Calibri"/>
              </a:defRPr>
            </a:pPr>
            <a:r>
              <a:t>Our company book club has grown to 140+ participants, fostering a culture of continuous learning and intellectual curiosity across all teams and locations.</a:t>
            </a:r>
          </a:p>
        </p:txBody>
      </p:sp>
      <p:sp>
        <p:nvSpPr>
          <p:cNvPr id="8" name="TextBox 7"/>
          <p:cNvSpPr txBox="1"/>
          <p:nvPr/>
        </p:nvSpPr>
        <p:spPr>
          <a:xfrm>
            <a:off x="1097280" y="5029200"/>
            <a:ext cx="9966960" cy="365760"/>
          </a:xfrm>
          <a:prstGeom prst="rect">
            <a:avLst/>
          </a:prstGeom>
          <a:noFill/>
        </p:spPr>
        <p:txBody>
          <a:bodyPr wrap="square">
            <a:spAutoFit/>
          </a:bodyPr>
          <a:lstStyle/>
          <a:p>
            <a:pPr algn="l">
              <a:defRPr sz="1300" b="0" i="0">
                <a:solidFill>
                  <a:srgbClr val="8F95A3"/>
                </a:solidFill>
                <a:latin typeface="Calibri"/>
              </a:defRPr>
            </a:pPr>
            <a:r>
              <a:t>Organized by Learning &amp; Development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57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5722"/>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5722"/>
                </a:solidFill>
                <a:latin typeface="Calibri"/>
              </a:defRPr>
            </a:pPr>
            <a:r>
              <a:t>Challenge Champions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AI Advent Challenge Heroes</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"20-day marathon completed by 6 dedicated heroes who tackled every challenge"</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Development Team</a:t>
            </a:r>
          </a:p>
        </p:txBody>
      </p:sp>
      <p:sp>
        <p:nvSpPr>
          <p:cNvPr id="8" name="TextBox 7"/>
          <p:cNvSpPr txBox="1"/>
          <p:nvPr/>
        </p:nvSpPr>
        <p:spPr>
          <a:xfrm>
            <a:off x="1097280" y="5212080"/>
            <a:ext cx="9966960" cy="365760"/>
          </a:xfrm>
          <a:prstGeom prst="rect">
            <a:avLst/>
          </a:prstGeom>
          <a:noFill/>
        </p:spPr>
        <p:txBody>
          <a:bodyPr wrap="square">
            <a:spAutoFit/>
          </a:bodyPr>
          <a:lstStyle/>
          <a:p>
            <a:pPr algn="l">
              <a:defRPr sz="1400" b="1" i="0">
                <a:solidFill>
                  <a:srgbClr val="FF5722"/>
                </a:solidFill>
                <a:latin typeface="Calibri"/>
              </a:defRPr>
            </a:pPr>
            <a:r>
              <a:t>🏆</a:t>
            </a:r>
          </a:p>
        </p:txBody>
      </p:sp>
      <p:sp>
        <p:nvSpPr>
          <p:cNvPr id="9" name="TextBox 8"/>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ai challenges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4CAF50"/>
                </a:solidFill>
                <a:latin typeface="Calibri"/>
              </a:defRPr>
            </a:pPr>
            <a:r>
              <a:t>📈  WIN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4CAF50"/>
                </a:solidFill>
                <a:latin typeface="Calibri"/>
              </a:defRPr>
            </a:pPr>
            <a:r>
              <a:t>Product Performance</a:t>
            </a:r>
          </a:p>
        </p:txBody>
      </p:sp>
      <p:sp>
        <p:nvSpPr>
          <p:cNvPr id="5" name="TextBox 4"/>
          <p:cNvSpPr txBox="1"/>
          <p:nvPr/>
        </p:nvSpPr>
        <p:spPr>
          <a:xfrm>
            <a:off x="1097280" y="2103120"/>
            <a:ext cx="4572000" cy="822960"/>
          </a:xfrm>
          <a:prstGeom prst="rect">
            <a:avLst/>
          </a:prstGeom>
          <a:noFill/>
        </p:spPr>
        <p:txBody>
          <a:bodyPr wrap="square">
            <a:spAutoFit/>
          </a:bodyPr>
          <a:lstStyle/>
          <a:p>
            <a:pPr algn="l">
              <a:defRPr sz="4800" b="1" i="0">
                <a:solidFill>
                  <a:srgbClr val="4CAF50"/>
                </a:solidFill>
                <a:latin typeface="Calibri"/>
              </a:defRPr>
            </a:pPr>
            <a:r>
              <a:t>+21.67%</a:t>
            </a:r>
          </a:p>
        </p:txBody>
      </p:sp>
      <p:sp>
        <p:nvSpPr>
          <p:cNvPr id="6" name="TextBox 5"/>
          <p:cNvSpPr txBox="1"/>
          <p:nvPr/>
        </p:nvSpPr>
        <p:spPr>
          <a:xfrm>
            <a:off x="1097280" y="2834640"/>
            <a:ext cx="4572000" cy="365760"/>
          </a:xfrm>
          <a:prstGeom prst="rect">
            <a:avLst/>
          </a:prstGeom>
          <a:noFill/>
        </p:spPr>
        <p:txBody>
          <a:bodyPr wrap="square">
            <a:spAutoFit/>
          </a:bodyPr>
          <a:lstStyle/>
          <a:p>
            <a:pPr algn="l">
              <a:defRPr sz="1200" b="0" i="0">
                <a:solidFill>
                  <a:srgbClr val="8F95A3"/>
                </a:solidFill>
                <a:latin typeface="Calibri"/>
              </a:defRPr>
            </a:pPr>
            <a:r>
              <a:t>D7 retention improvement</a:t>
            </a:r>
          </a:p>
        </p:txBody>
      </p:sp>
      <p:sp>
        <p:nvSpPr>
          <p:cNvPr id="7" name="TextBox 6"/>
          <p:cNvSpPr txBox="1"/>
          <p:nvPr/>
        </p:nvSpPr>
        <p:spPr>
          <a:xfrm>
            <a:off x="1097280" y="3291840"/>
            <a:ext cx="9966960" cy="365760"/>
          </a:xfrm>
          <a:prstGeom prst="rect">
            <a:avLst/>
          </a:prstGeom>
          <a:noFill/>
        </p:spPr>
        <p:txBody>
          <a:bodyPr wrap="square">
            <a:spAutoFit/>
          </a:bodyPr>
          <a:lstStyle/>
          <a:p>
            <a:pPr algn="l">
              <a:defRPr sz="1400" b="0" i="0">
                <a:solidFill>
                  <a:srgbClr val="E2E2EA"/>
                </a:solidFill>
                <a:latin typeface="Calibri"/>
              </a:defRPr>
            </a:pPr>
            <a:r>
              <a:t>by Solitaire Team</a:t>
            </a:r>
          </a:p>
        </p:txBody>
      </p:sp>
      <p:sp>
        <p:nvSpPr>
          <p:cNvPr id="8" name="TextBox 7"/>
          <p:cNvSpPr txBox="1"/>
          <p:nvPr/>
        </p:nvSpPr>
        <p:spPr>
          <a:xfrm>
            <a:off x="1097280" y="3840480"/>
            <a:ext cx="9966960" cy="457200"/>
          </a:xfrm>
          <a:prstGeom prst="rect">
            <a:avLst/>
          </a:prstGeom>
          <a:noFill/>
        </p:spPr>
        <p:txBody>
          <a:bodyPr wrap="square">
            <a:spAutoFit/>
          </a:bodyPr>
          <a:lstStyle/>
          <a:p>
            <a:pPr algn="l">
              <a:defRPr sz="1800" b="1" i="0">
                <a:solidFill>
                  <a:srgbClr val="FFFFFF"/>
                </a:solidFill>
                <a:latin typeface="Calibri"/>
              </a:defRPr>
            </a:pPr>
            <a:r>
              <a:t>Solitaire v540 Delivers Major Retention Boost</a:t>
            </a:r>
          </a:p>
        </p:txBody>
      </p:sp>
      <p:sp>
        <p:nvSpPr>
          <p:cNvPr id="9" name="TextBox 8"/>
          <p:cNvSpPr txBox="1"/>
          <p:nvPr/>
        </p:nvSpPr>
        <p:spPr>
          <a:xfrm>
            <a:off x="1097280" y="4389120"/>
            <a:ext cx="9966960" cy="914400"/>
          </a:xfrm>
          <a:prstGeom prst="rect">
            <a:avLst/>
          </a:prstGeom>
          <a:noFill/>
        </p:spPr>
        <p:txBody>
          <a:bodyPr wrap="square">
            <a:spAutoFit/>
          </a:bodyPr>
          <a:lstStyle/>
          <a:p>
            <a:pPr algn="l">
              <a:defRPr sz="1400" b="0" i="0">
                <a:solidFill>
                  <a:srgbClr val="E2E2EA"/>
                </a:solidFill>
                <a:latin typeface="Calibri"/>
              </a:defRPr>
            </a:pPr>
            <a:r>
              <a:t>The latest Solitaire version achieved a significant 21.67% improvement in D7 retention, showcasing the impact of data-driven product iterations and user experience optimization.</a:t>
            </a:r>
          </a:p>
        </p:txBody>
      </p:sp>
      <p:sp>
        <p:nvSpPr>
          <p:cNvPr id="10" name="TextBox 9"/>
          <p:cNvSpPr txBox="1"/>
          <p:nvPr/>
        </p:nvSpPr>
        <p:spPr>
          <a:xfrm>
            <a:off x="1097280" y="5486400"/>
            <a:ext cx="9966960" cy="457200"/>
          </a:xfrm>
          <a:prstGeom prst="rect">
            <a:avLst/>
          </a:prstGeom>
          <a:noFill/>
        </p:spPr>
        <p:txBody>
          <a:bodyPr wrap="square">
            <a:spAutoFit/>
          </a:bodyPr>
          <a:lstStyle/>
          <a:p>
            <a:pPr algn="l">
              <a:defRPr sz="1300" b="0" i="1">
                <a:solidFill>
                  <a:srgbClr val="8F95A3"/>
                </a:solidFill>
                <a:latin typeface="Calibri"/>
              </a:defRPr>
            </a:pPr>
            <a:r>
              <a:t>💬 "Continuous improvement methodology paying off with measurable user engagement gains."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