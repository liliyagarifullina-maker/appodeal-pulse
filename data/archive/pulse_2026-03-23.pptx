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March 23,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6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6B9D"/>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6B9D"/>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Pavel Savinskiy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Hope your day is filled with great energy, warm messages, sweet treats (cake is absolutely a must), and a moment to pause and enjoy it all!</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6B9D"/>
                </a:solidFill>
                <a:latin typeface="Calibri"/>
              </a:defRPr>
            </a:pPr>
            <a:r>
              <a:t>Head of Design and Creative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ADE80"/>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ADE80"/>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Yevhenii Siechko</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year ahead filled with new ideas, meaningful achievements, and exciting opportunities!</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4ADE80"/>
                </a:solidFill>
                <a:latin typeface="Calibri"/>
              </a:defRPr>
            </a:pPr>
            <a:r>
              <a:t>Unity developer | Chardonnay | Barcelona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80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800"/>
                </a:solidFill>
                <a:latin typeface="Calibri"/>
              </a:defRPr>
            </a:pPr>
            <a:r>
              <a:t>Outstanding Achievement</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FFB800"/>
                </a:solidFill>
                <a:latin typeface="Calibri"/>
              </a:defRPr>
            </a:pPr>
            <a:r>
              <a:t>60×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Maria Plendukova + others</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Mykhailo Kukharskyi</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delivery management work driving MGP-UA forward with remarkable dedication and results"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FFB800"/>
                </a:solidFill>
                <a:latin typeface="Calibri"/>
              </a:defRPr>
            </a:pPr>
            <a:r>
              <a:t>Excellence · Teamwork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0B981"/>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0B981"/>
                </a:solidFill>
                <a:latin typeface="Calibri"/>
              </a:defRPr>
            </a:pPr>
            <a:r>
              <a:t>Team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10B981"/>
                </a:solidFill>
                <a:latin typeface="Calibri"/>
              </a:defRPr>
            </a:pPr>
            <a:r>
              <a:t>59×</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Maria Plendukova + Veronika Yastrebova + Mikita Dzianisevich</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Mykhailo Kukharskyi, Maria Plendukova</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"Collaborative excellence in cross-team coordination and delivery management across multiple projects"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10B981"/>
                </a:solidFill>
                <a:latin typeface="Calibri"/>
              </a:defRPr>
            </a:pPr>
            <a:r>
              <a:t>Collaboration ·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59E0B"/>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59E0B"/>
                </a:solidFill>
                <a:latin typeface="Calibri"/>
              </a:defRPr>
            </a:pPr>
            <a:r>
              <a:t>Data Science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F59E0B"/>
                </a:solidFill>
                <a:latin typeface="Calibri"/>
              </a:defRPr>
            </a:pPr>
            <a:r>
              <a:t>47×</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Emil Sharafiev + Alexandr Zhitlukhin</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Sem Sinchenko, Artem Orlov, Andrey Chuprov, Maxim Sinyaev, Francesco, Agustin, Sergio-Yersi Villegas, Taha</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"Outstanding contributions to MGP-UA data science initiatives and model development"</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F59E0B"/>
                </a:solidFill>
                <a:latin typeface="Calibri"/>
              </a:defRPr>
            </a:pPr>
            <a:r>
              <a:t>Innovation · Technical Excellence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8B5CF6"/>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8B5CF6"/>
                </a:solidFill>
                <a:latin typeface="Calibri"/>
              </a:defRPr>
            </a:pPr>
            <a:r>
              <a:t>Engineering Achievement</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8B5CF6"/>
                </a:solidFill>
                <a:latin typeface="Calibri"/>
              </a:defRPr>
            </a:pPr>
            <a:r>
              <a:t>25×</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Maxim Sinyaev</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Agustin, Andrey Chuprov</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technical contributions and problem-solving in data engineering challenges"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8B5CF6"/>
                </a:solidFill>
                <a:latin typeface="Calibri"/>
              </a:defRPr>
            </a:pPr>
            <a:r>
              <a:t>Technical Mastery · Problem 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6B6D4"/>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6B6D4"/>
                </a:solidFill>
                <a:latin typeface="Calibri"/>
              </a:defRPr>
            </a:pPr>
            <a:r>
              <a:t>QA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06B6D4"/>
                </a:solidFill>
                <a:latin typeface="Calibri"/>
              </a:defRPr>
            </a:pPr>
            <a:r>
              <a:t>25×</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Aleksei Gerasimov</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Gleb Krahotkin</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quality assurance work ensuring robust and reliable software delivery"</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06B6D4"/>
                </a:solidFill>
                <a:latin typeface="Calibri"/>
              </a:defRPr>
            </a:pPr>
            <a:r>
              <a:t>Quality · Attention to Detail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7C3AED"/>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7C3AED"/>
                </a:solidFill>
                <a:latin typeface="Calibri"/>
              </a:defRPr>
            </a:pPr>
            <a:r>
              <a:t>AI-Powered Launch Week</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7C3AED"/>
                </a:solidFill>
                <a:latin typeface="Calibri"/>
              </a:defRPr>
            </a:pPr>
            <a:r>
              <a:t>4×</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Models Testing Simultaneously</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A/B/C/D Model Testing Goes Live</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Our advanced machine learning models launch Monday with simultaneous testing of three different approaches. Inference workflows are optimized from hours to under 2 hours, with embeddings uploaded to Redis for real-time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59669"/>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59669"/>
                </a:solidFill>
                <a:latin typeface="Calibri"/>
              </a:defRPr>
            </a:pPr>
            <a:r>
              <a:t>Infrastructure Excellence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059669"/>
                </a:solidFill>
                <a:latin typeface="Calibri"/>
              </a:defRPr>
            </a:pPr>
            <a:r>
              <a:t>2×</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Hour Optimization</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Engineering Teams</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Massive Performance Breakthrough</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Shared embedding optimization dramatically reduces inference run time from several hours to under two hours, enabling faster decision-making and improved user experience.</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"Technical excellence drives business velocity"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DC2626"/>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DC2626"/>
                </a:solidFill>
                <a:latin typeface="Calibri"/>
              </a:defRPr>
            </a:pPr>
            <a:r>
              <a:t>Data Quality Revolution</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DC2626"/>
                </a:solidFill>
                <a:latin typeface="Calibri"/>
              </a:defRPr>
            </a:pPr>
            <a:r>
              <a:t>100%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Data Accuracy Improvement</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Vector ID Management Overhaul</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Resolved critical inconsistencies in user tracking by updating timestamps, cleaning outdated vector IDs, and implementing incremental updates. Active users are now explicitly linked to vector IDs for real-time monitoring.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D4ED8"/>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D4ED8"/>
                </a:solidFill>
                <a:latin typeface="Calibri"/>
              </a:defRPr>
            </a:pPr>
            <a:r>
              <a:t>Privacy &amp; Compliance Focus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1D4ED8"/>
                </a:solidFill>
                <a:latin typeface="Calibri"/>
              </a:defRPr>
            </a:pPr>
            <a:r>
              <a:t>US</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Regulation Ready</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Product &amp; Engineering</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Privacy-First Product Development</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Privacy compliance features are being prioritized for sensitive markets, with focus on US regulations and enhanced privacy options to ensure product readiness.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"Compliance drives market expansion opportunities"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59E0B"/>
                </a:solidFill>
                <a:latin typeface="Calibri"/>
              </a:defRPr>
            </a:pPr>
            <a:r>
              <a:t>📈  EVENT</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59E0B"/>
                </a:solidFill>
                <a:latin typeface="Calibri"/>
              </a:defRPr>
            </a:pPr>
            <a:r>
              <a:t>Strategic Alignment Session</a:t>
            </a:r>
          </a:p>
        </p:txBody>
      </p:sp>
      <p:sp>
        <p:nvSpPr>
          <p:cNvPr id="5" name="TextBox 4"/>
          <p:cNvSpPr txBox="1"/>
          <p:nvPr/>
        </p:nvSpPr>
        <p:spPr>
          <a:xfrm>
            <a:off x="1097280" y="2103120"/>
            <a:ext cx="9966960" cy="548640"/>
          </a:xfrm>
          <a:prstGeom prst="rect">
            <a:avLst/>
          </a:prstGeom>
          <a:noFill/>
        </p:spPr>
        <p:txBody>
          <a:bodyPr wrap="square">
            <a:spAutoFit/>
          </a:bodyPr>
          <a:lstStyle/>
          <a:p>
            <a:pPr algn="l">
              <a:defRPr sz="2200" b="1" i="0">
                <a:solidFill>
                  <a:srgbClr val="FFFFFF"/>
                </a:solidFill>
                <a:latin typeface="Calibri"/>
              </a:defRPr>
            </a:pPr>
            <a:r>
              <a:t>Sales-Product Integration Initiative</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F59E0B"/>
                </a:solidFill>
                <a:latin typeface="Calibri"/>
              </a:defRPr>
            </a:pPr>
            <a:r>
              <a:t>This Week</a:t>
            </a:r>
          </a:p>
        </p:txBody>
      </p:sp>
      <p:sp>
        <p:nvSpPr>
          <p:cNvPr id="7" name="TextBox 6"/>
          <p:cNvSpPr txBox="1"/>
          <p:nvPr/>
        </p:nvSpPr>
        <p:spPr>
          <a:xfrm>
            <a:off x="1097280" y="3291840"/>
            <a:ext cx="9966960" cy="1371600"/>
          </a:xfrm>
          <a:prstGeom prst="rect">
            <a:avLst/>
          </a:prstGeom>
          <a:noFill/>
        </p:spPr>
        <p:txBody>
          <a:bodyPr wrap="square">
            <a:spAutoFit/>
          </a:bodyPr>
          <a:lstStyle/>
          <a:p>
            <a:pPr algn="l">
              <a:defRPr sz="1500" b="0" i="0">
                <a:solidFill>
                  <a:srgbClr val="E2E2EA"/>
                </a:solidFill>
                <a:latin typeface="Calibri"/>
              </a:defRPr>
            </a:pPr>
            <a:r>
              <a:t>New process established for regular syncs between sales and product teams to address communication gaps and improve collaboration on mediation integrations. Focus on better publisher integrations and compliance with Google and Applovin.</a:t>
            </a:r>
          </a:p>
        </p:txBody>
      </p:sp>
      <p:sp>
        <p:nvSpPr>
          <p:cNvPr id="8" name="TextBox 7"/>
          <p:cNvSpPr txBox="1"/>
          <p:nvPr/>
        </p:nvSpPr>
        <p:spPr>
          <a:xfrm>
            <a:off x="1097280" y="5029200"/>
            <a:ext cx="9966960" cy="365760"/>
          </a:xfrm>
          <a:prstGeom prst="rect">
            <a:avLst/>
          </a:prstGeom>
          <a:noFill/>
        </p:spPr>
        <p:txBody>
          <a:bodyPr wrap="square">
            <a:spAutoFit/>
          </a:bodyPr>
          <a:lstStyle/>
          <a:p>
            <a:pPr algn="l">
              <a:defRPr sz="1300" b="0" i="0">
                <a:solidFill>
                  <a:srgbClr val="8F95A3"/>
                </a:solidFill>
                <a:latin typeface="Calibri"/>
              </a:defRPr>
            </a:pPr>
            <a:r>
              <a:t>Organized by Product &amp; Sales Leadership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8B5CF6"/>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8B5CF6"/>
                </a:solidFill>
                <a:latin typeface="Calibri"/>
              </a:defRPr>
            </a:pPr>
            <a:r>
              <a:t>Gaming Division Milestone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8B5CF6"/>
                </a:solidFill>
                <a:latin typeface="Calibri"/>
              </a:defRPr>
            </a:pPr>
            <a:r>
              <a:t>80%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OKR Health Rate</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Scorecard Automation Nearly Complete</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4 out of 9 scorecards and 5 out of 9 follow-throughs are ready, with most automation efforts expected to complete early next week. Independent scorecard system now aligned with business objectives.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0B981"/>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0B981"/>
                </a:solidFill>
                <a:latin typeface="Calibri"/>
              </a:defRPr>
            </a:pPr>
            <a:r>
              <a:t>Knowledge Sharing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10B981"/>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Technical Innovation Insights</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Shared valuable technical resource for team learning and development</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 · :awesome: ×1, :harold-face: ×3</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3B82F6"/>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3B82F6"/>
                </a:solidFill>
                <a:latin typeface="Calibri"/>
              </a:defRPr>
            </a:pPr>
            <a:r>
              <a:t>Team Support</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Family First Culture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"Thank you everyone who supported me... She is getting better and is expected to recover completely over the next 6-12 months"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212080"/>
            <a:ext cx="9966960" cy="365760"/>
          </a:xfrm>
          <a:prstGeom prst="rect">
            <a:avLst/>
          </a:prstGeom>
          <a:noFill/>
        </p:spPr>
        <p:txBody>
          <a:bodyPr wrap="square">
            <a:spAutoFit/>
          </a:bodyPr>
          <a:lstStyle/>
          <a:p>
            <a:pPr algn="l">
              <a:defRPr sz="1400" b="1" i="0">
                <a:solidFill>
                  <a:srgbClr val="3B82F6"/>
                </a:solidFill>
                <a:latin typeface="Calibri"/>
              </a:defRPr>
            </a:pPr>
            <a:r>
              <a:t>:light_blue_heart: ×18, :pray: ×31, :hug: ×9</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59669"/>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59669"/>
                </a:solidFill>
                <a:latin typeface="Calibri"/>
              </a:defRPr>
            </a:pPr>
            <a:r>
              <a:t>Company Growth Trajectory</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059669"/>
                </a:solidFill>
                <a:latin typeface="Calibri"/>
              </a:defRPr>
            </a:pPr>
            <a:r>
              <a:t>$100M</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Gross Profit</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Appodeal</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Scaling Toward Ambitious Vision</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With $20M EBITDA and 40% YoY growth projected, we're building toward our ambitious goal of becoming a $50B company with 1,500 employees across 100 studios.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"Sustainable growth fuels long-term vision"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7C3AED"/>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7C3AED"/>
                </a:solidFill>
                <a:latin typeface="Calibri"/>
              </a:defRPr>
            </a:pPr>
            <a:r>
              <a:t>AI Transformation Initiative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7C3AED"/>
                </a:solidFill>
                <a:latin typeface="Calibri"/>
              </a:defRPr>
            </a:pPr>
            <a:r>
              <a:t>1,000+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Daily OKR Checks via AI</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AI Agent Revolution Coming</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Every employee will manage 5-10 AI agents within 3-6 months. Our OKR Auditor already checks 1,000+ individual OKRs daily via AI, while Daria AI Bot saves $4k weekly analyzing app reviews.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DC2626"/>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DC2626"/>
                </a:solidFill>
                <a:latin typeface="Calibri"/>
              </a:defRPr>
            </a:pPr>
            <a:r>
              <a:t>Gaming Success Story</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DC2626"/>
                </a:solidFill>
                <a:latin typeface="Calibri"/>
              </a:defRPr>
            </a:pPr>
            <a:r>
              <a:t>61%</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Retention Rate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Gaming Division</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Infinite Minesweeper Exceeds Benchmarks</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Gaming division turned profitable in 2025, with Infinite Minesweeper achieving 61% retention (Apple benchmark: 151-160%), Solitaire v540 showing +21.67% D7 retention, and Crossword exceeding 200% ROAS.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"Gaming innovation drives exceptional user engagement"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D4ED8"/>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D4ED8"/>
                </a:solidFill>
                <a:latin typeface="Calibri"/>
              </a:defRPr>
            </a:pPr>
            <a:r>
              <a:t>Security Excellence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1D4ED8"/>
                </a:solidFill>
                <a:latin typeface="Calibri"/>
              </a:defRPr>
            </a:pPr>
            <a:r>
              <a:t>4%</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Fraud Rate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Security Team</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Fraud Detection Revolution</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Dynamic SDK signatures reduced fraud from 22% to under 4%, dramatically improving platform security and user trust while protecting revenue integrity.</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"Advanced security creates competitive advantage"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59E0B"/>
                </a:solidFill>
                <a:latin typeface="Calibri"/>
              </a:defRPr>
            </a:pPr>
            <a:r>
              <a:t>📚  WEEKLY RITUAL</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59E0B"/>
                </a:solidFill>
                <a:latin typeface="Calibri"/>
              </a:defRPr>
            </a:pPr>
            <a:r>
              <a:t>Learning Culture</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Book Club Community Thrives</a:t>
            </a:r>
          </a:p>
        </p:txBody>
      </p:sp>
      <p:sp>
        <p:nvSpPr>
          <p:cNvPr id="6" name="TextBox 5"/>
          <p:cNvSpPr txBox="1"/>
          <p:nvPr/>
        </p:nvSpPr>
        <p:spPr>
          <a:xfrm>
            <a:off x="1371600" y="2926080"/>
            <a:ext cx="9418320" cy="548640"/>
          </a:xfrm>
          <a:prstGeom prst="rect">
            <a:avLst/>
          </a:prstGeom>
          <a:noFill/>
        </p:spPr>
        <p:txBody>
          <a:bodyPr wrap="square">
            <a:spAutoFit/>
          </a:bodyPr>
          <a:lstStyle/>
          <a:p>
            <a:pPr algn="l">
              <a:defRPr sz="1400" b="0" i="0">
                <a:solidFill>
                  <a:srgbClr val="E2E2EA"/>
                </a:solidFill>
                <a:latin typeface="Calibri"/>
              </a:defRPr>
            </a:pPr>
            <a:r>
              <a:t>What's the most valuable insight you've gained from our Book Club discussions?</a:t>
            </a:r>
          </a:p>
        </p:txBody>
      </p:sp>
      <p:sp>
        <p:nvSpPr>
          <p:cNvPr id="7" name="TextBox 6"/>
          <p:cNvSpPr txBox="1"/>
          <p:nvPr/>
        </p:nvSpPr>
        <p:spPr>
          <a:xfrm>
            <a:off x="1371600" y="3657600"/>
            <a:ext cx="9418320" cy="548640"/>
          </a:xfrm>
          <a:prstGeom prst="rect">
            <a:avLst/>
          </a:prstGeom>
          <a:noFill/>
        </p:spPr>
        <p:txBody>
          <a:bodyPr wrap="square">
            <a:spAutoFit/>
          </a:bodyPr>
          <a:lstStyle/>
          <a:p>
            <a:pPr algn="l">
              <a:defRPr sz="1400" b="0" i="0">
                <a:solidFill>
                  <a:srgbClr val="E2E2EA"/>
                </a:solidFill>
                <a:latin typeface="Calibri"/>
              </a:defRPr>
            </a:pPr>
            <a:r>
              <a:t>How has 'Passionate Curiosity' influenced your approach to work?</a:t>
            </a:r>
          </a:p>
        </p:txBody>
      </p:sp>
      <p:sp>
        <p:nvSpPr>
          <p:cNvPr id="8" name="TextBox 7"/>
          <p:cNvSpPr txBox="1"/>
          <p:nvPr/>
        </p:nvSpPr>
        <p:spPr>
          <a:xfrm>
            <a:off x="1097280" y="4754880"/>
            <a:ext cx="9966960" cy="731520"/>
          </a:xfrm>
          <a:prstGeom prst="rect">
            <a:avLst/>
          </a:prstGeom>
          <a:noFill/>
        </p:spPr>
        <p:txBody>
          <a:bodyPr wrap="square">
            <a:spAutoFit/>
          </a:bodyPr>
          <a:lstStyle/>
          <a:p>
            <a:pPr algn="l">
              <a:defRPr sz="1500" b="0" i="1">
                <a:solidFill>
                  <a:srgbClr val="E2E2EA"/>
                </a:solidFill>
                <a:latin typeface="Calibri"/>
              </a:defRPr>
            </a:pPr>
            <a:r>
              <a:t>Continuous Learning</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Book Club Initiative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0B981"/>
                </a:solidFill>
                <a:latin typeface="Calibri"/>
              </a:defRPr>
            </a:pPr>
            <a:r>
              <a:t>🧘  WEEKLY RITUAL</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0B981"/>
                </a:solidFill>
                <a:latin typeface="Calibri"/>
              </a:defRPr>
            </a:pPr>
            <a:r>
              <a:t>Wellness &amp; Balance</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Daily Yoga Sessions Continue</a:t>
            </a:r>
          </a:p>
        </p:txBody>
      </p:sp>
      <p:sp>
        <p:nvSpPr>
          <p:cNvPr id="6" name="TextBox 5"/>
          <p:cNvSpPr txBox="1"/>
          <p:nvPr/>
        </p:nvSpPr>
        <p:spPr>
          <a:xfrm>
            <a:off x="1371600" y="2926080"/>
            <a:ext cx="9418320" cy="548640"/>
          </a:xfrm>
          <a:prstGeom prst="rect">
            <a:avLst/>
          </a:prstGeom>
          <a:noFill/>
        </p:spPr>
        <p:txBody>
          <a:bodyPr wrap="square">
            <a:spAutoFit/>
          </a:bodyPr>
          <a:lstStyle/>
          <a:p>
            <a:pPr algn="l">
              <a:defRPr sz="1400" b="0" i="0">
                <a:solidFill>
                  <a:srgbClr val="E2E2EA"/>
                </a:solidFill>
                <a:latin typeface="Calibri"/>
              </a:defRPr>
            </a:pPr>
            <a:r>
              <a:t>Join Anna Kolyada daily at 13:10 CET for yoga - office and online streaming available</a:t>
            </a:r>
          </a:p>
        </p:txBody>
      </p:sp>
      <p:sp>
        <p:nvSpPr>
          <p:cNvPr id="7" name="TextBox 6"/>
          <p:cNvSpPr txBox="1"/>
          <p:nvPr/>
        </p:nvSpPr>
        <p:spPr>
          <a:xfrm>
            <a:off x="1371600" y="3657600"/>
            <a:ext cx="9418320" cy="548640"/>
          </a:xfrm>
          <a:prstGeom prst="rect">
            <a:avLst/>
          </a:prstGeom>
          <a:noFill/>
        </p:spPr>
        <p:txBody>
          <a:bodyPr wrap="square">
            <a:spAutoFit/>
          </a:bodyPr>
          <a:lstStyle/>
          <a:p>
            <a:pPr algn="l">
              <a:defRPr sz="1400" b="0" i="0">
                <a:solidFill>
                  <a:srgbClr val="E2E2EA"/>
                </a:solidFill>
                <a:latin typeface="Calibri"/>
              </a:defRPr>
            </a:pPr>
            <a:r>
              <a:t>Taking care of your wellbeing enhances both personal and professional performance</a:t>
            </a:r>
          </a:p>
        </p:txBody>
      </p:sp>
      <p:sp>
        <p:nvSpPr>
          <p:cNvPr id="8" name="TextBox 7"/>
          <p:cNvSpPr txBox="1"/>
          <p:nvPr/>
        </p:nvSpPr>
        <p:spPr>
          <a:xfrm>
            <a:off x="1097280" y="4754880"/>
            <a:ext cx="9966960" cy="731520"/>
          </a:xfrm>
          <a:prstGeom prst="rect">
            <a:avLst/>
          </a:prstGeom>
          <a:noFill/>
        </p:spPr>
        <p:txBody>
          <a:bodyPr wrap="square">
            <a:spAutoFit/>
          </a:bodyPr>
          <a:lstStyle/>
          <a:p>
            <a:pPr algn="l">
              <a:defRPr sz="1500" b="0" i="1">
                <a:solidFill>
                  <a:srgbClr val="E2E2EA"/>
                </a:solidFill>
                <a:latin typeface="Calibri"/>
              </a:defRPr>
            </a:pPr>
            <a:r>
              <a:t>Work-Life Balance</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Wellness Initiative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