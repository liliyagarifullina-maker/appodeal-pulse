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TextBox 1"/>
          <p:cNvSpPr txBox="1"/>
          <p:nvPr/>
        </p:nvSpPr>
        <p:spPr>
          <a:xfrm>
            <a:off x="1097280" y="1828800"/>
            <a:ext cx="9966960" cy="548640"/>
          </a:xfrm>
          <a:prstGeom prst="rect">
            <a:avLst/>
          </a:prstGeom>
          <a:noFill/>
        </p:spPr>
        <p:txBody>
          <a:bodyPr wrap="square">
            <a:spAutoFit/>
          </a:bodyPr>
          <a:lstStyle/>
          <a:p>
            <a:pPr algn="ctr">
              <a:defRPr sz="1800" b="1" i="0">
                <a:solidFill>
                  <a:srgbClr val="5C6270"/>
                </a:solidFill>
                <a:latin typeface="Calibri"/>
              </a:defRPr>
            </a:pPr>
            <a:r>
              <a:t>APPODEAL</a:t>
            </a:r>
          </a:p>
        </p:txBody>
      </p:sp>
      <p:sp>
        <p:nvSpPr>
          <p:cNvPr id="3" name="TextBox 2"/>
          <p:cNvSpPr txBox="1"/>
          <p:nvPr/>
        </p:nvSpPr>
        <p:spPr>
          <a:xfrm>
            <a:off x="1097280" y="2468880"/>
            <a:ext cx="9966960" cy="1097280"/>
          </a:xfrm>
          <a:prstGeom prst="rect">
            <a:avLst/>
          </a:prstGeom>
          <a:noFill/>
        </p:spPr>
        <p:txBody>
          <a:bodyPr wrap="square">
            <a:spAutoFit/>
          </a:bodyPr>
          <a:lstStyle/>
          <a:p>
            <a:pPr algn="ctr">
              <a:defRPr sz="5600" b="1" i="0">
                <a:solidFill>
                  <a:srgbClr val="FFFFFF"/>
                </a:solidFill>
                <a:latin typeface="Calibri"/>
              </a:defRPr>
            </a:pPr>
            <a:r>
              <a:t>PULSE</a:t>
            </a:r>
          </a:p>
        </p:txBody>
      </p:sp>
      <p:sp>
        <p:nvSpPr>
          <p:cNvPr id="4" name="TextBox 3"/>
          <p:cNvSpPr txBox="1"/>
          <p:nvPr/>
        </p:nvSpPr>
        <p:spPr>
          <a:xfrm>
            <a:off x="1097280" y="3840480"/>
            <a:ext cx="9966960" cy="457200"/>
          </a:xfrm>
          <a:prstGeom prst="rect">
            <a:avLst/>
          </a:prstGeom>
          <a:noFill/>
        </p:spPr>
        <p:txBody>
          <a:bodyPr wrap="square">
            <a:spAutoFit/>
          </a:bodyPr>
          <a:lstStyle/>
          <a:p>
            <a:pPr algn="ctr">
              <a:defRPr sz="1600" b="0" i="0">
                <a:solidFill>
                  <a:srgbClr val="8F95A3"/>
                </a:solidFill>
                <a:latin typeface="Calibri"/>
              </a:defRPr>
            </a:pPr>
            <a:r>
              <a:t>Sunday, March 15, 2026</a:t>
            </a:r>
          </a:p>
        </p:txBody>
      </p:sp>
      <p:sp>
        <p:nvSpPr>
          <p:cNvPr id="5" name="Rectangle 4"/>
          <p:cNvSpPr/>
          <p:nvPr/>
        </p:nvSpPr>
        <p:spPr>
          <a:xfrm>
            <a:off x="5029200" y="4572000"/>
            <a:ext cx="2103120" cy="36576"/>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EC4899"/>
                </a:solidFill>
                <a:latin typeface="Calibri"/>
              </a:defRPr>
            </a:pPr>
            <a:r>
              <a:t>🎂  CELEBRATION</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EC4899"/>
                </a:solidFill>
                <a:latin typeface="Calibri"/>
              </a:defRPr>
            </a:pPr>
            <a:r>
              <a:t>Birthday Celebration</a:t>
            </a:r>
          </a:p>
        </p:txBody>
      </p:sp>
      <p:sp>
        <p:nvSpPr>
          <p:cNvPr id="5" name="TextBox 4"/>
          <p:cNvSpPr txBox="1"/>
          <p:nvPr/>
        </p:nvSpPr>
        <p:spPr>
          <a:xfrm>
            <a:off x="1097280" y="2103120"/>
            <a:ext cx="9966960" cy="640080"/>
          </a:xfrm>
          <a:prstGeom prst="rect">
            <a:avLst/>
          </a:prstGeom>
          <a:noFill/>
        </p:spPr>
        <p:txBody>
          <a:bodyPr wrap="square">
            <a:spAutoFit/>
          </a:bodyPr>
          <a:lstStyle/>
          <a:p>
            <a:pPr algn="l">
              <a:defRPr sz="2800" b="1" i="0">
                <a:solidFill>
                  <a:srgbClr val="FFFFFF"/>
                </a:solidFill>
                <a:latin typeface="Calibri"/>
              </a:defRPr>
            </a:pPr>
            <a:r>
              <a:t>Artem Orlov</a:t>
            </a:r>
          </a:p>
        </p:txBody>
      </p:sp>
      <p:sp>
        <p:nvSpPr>
          <p:cNvPr id="6" name="TextBox 5"/>
          <p:cNvSpPr txBox="1"/>
          <p:nvPr/>
        </p:nvSpPr>
        <p:spPr>
          <a:xfrm>
            <a:off x="1097280" y="2743200"/>
            <a:ext cx="9966960" cy="365760"/>
          </a:xfrm>
          <a:prstGeom prst="rect">
            <a:avLst/>
          </a:prstGeom>
          <a:noFill/>
        </p:spPr>
        <p:txBody>
          <a:bodyPr wrap="square">
            <a:spAutoFit/>
          </a:bodyPr>
          <a:lstStyle/>
          <a:p>
            <a:pPr algn="l">
              <a:defRPr sz="1400" b="0" i="0">
                <a:solidFill>
                  <a:srgbClr val="8F95A3"/>
                </a:solidFill>
                <a:latin typeface="Calibri"/>
              </a:defRPr>
            </a:pPr>
            <a:r>
              <a:t>Happy Birthday!</a:t>
            </a:r>
          </a:p>
        </p:txBody>
      </p:sp>
      <p:sp>
        <p:nvSpPr>
          <p:cNvPr id="7" name="TextBox 6"/>
          <p:cNvSpPr txBox="1"/>
          <p:nvPr/>
        </p:nvSpPr>
        <p:spPr>
          <a:xfrm>
            <a:off x="1097280" y="3291840"/>
            <a:ext cx="9966960" cy="914400"/>
          </a:xfrm>
          <a:prstGeom prst="rect">
            <a:avLst/>
          </a:prstGeom>
          <a:noFill/>
        </p:spPr>
        <p:txBody>
          <a:bodyPr wrap="square">
            <a:spAutoFit/>
          </a:bodyPr>
          <a:lstStyle/>
          <a:p>
            <a:pPr algn="l">
              <a:defRPr sz="1600" b="0" i="0">
                <a:solidFill>
                  <a:srgbClr val="E2E2EA"/>
                </a:solidFill>
                <a:latin typeface="Calibri"/>
              </a:defRPr>
            </a:pPr>
            <a:r>
              <a:t>Thank you for all your explanations! You bring so much value, energy, and good vibes to our team. May this year be filled with new adventures, bold goals, and plenty of little wins that make you smile along the way.</a:t>
            </a:r>
          </a:p>
        </p:txBody>
      </p:sp>
      <p:sp>
        <p:nvSpPr>
          <p:cNvPr id="8" name="TextBox 7"/>
          <p:cNvSpPr txBox="1"/>
          <p:nvPr/>
        </p:nvSpPr>
        <p:spPr>
          <a:xfrm>
            <a:off x="1097280" y="4572000"/>
            <a:ext cx="9966960" cy="457200"/>
          </a:xfrm>
          <a:prstGeom prst="rect">
            <a:avLst/>
          </a:prstGeom>
          <a:noFill/>
        </p:spPr>
        <p:txBody>
          <a:bodyPr wrap="square">
            <a:spAutoFit/>
          </a:bodyPr>
          <a:lstStyle/>
          <a:p>
            <a:pPr algn="l">
              <a:defRPr sz="1400" b="0" i="1">
                <a:solidFill>
                  <a:srgbClr val="EC4899"/>
                </a:solidFill>
                <a:latin typeface="Calibri"/>
              </a:defRPr>
            </a:pPr>
            <a:r>
              <a:t>Celebrated by the entire team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059669"/>
                </a:solidFill>
                <a:latin typeface="Calibri"/>
              </a:defRPr>
            </a:pPr>
            <a:r>
              <a:t>👏  CLAPS</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059669"/>
                </a:solidFill>
                <a:latin typeface="Calibri"/>
              </a:defRPr>
            </a:pPr>
            <a:r>
              <a:t>Top Recognition</a:t>
            </a:r>
          </a:p>
        </p:txBody>
      </p:sp>
      <p:sp>
        <p:nvSpPr>
          <p:cNvPr id="5" name="TextBox 4"/>
          <p:cNvSpPr txBox="1"/>
          <p:nvPr/>
        </p:nvSpPr>
        <p:spPr>
          <a:xfrm>
            <a:off x="1097280" y="2103120"/>
            <a:ext cx="2743200" cy="548640"/>
          </a:xfrm>
          <a:prstGeom prst="rect">
            <a:avLst/>
          </a:prstGeom>
          <a:noFill/>
        </p:spPr>
        <p:txBody>
          <a:bodyPr wrap="square">
            <a:spAutoFit/>
          </a:bodyPr>
          <a:lstStyle/>
          <a:p>
            <a:pPr algn="l">
              <a:defRPr sz="2800" b="1" i="0">
                <a:solidFill>
                  <a:srgbClr val="059669"/>
                </a:solidFill>
                <a:latin typeface="Calibri"/>
              </a:defRPr>
            </a:pPr>
            <a:r>
              <a:t>50</a:t>
            </a:r>
          </a:p>
        </p:txBody>
      </p:sp>
      <p:sp>
        <p:nvSpPr>
          <p:cNvPr id="6" name="TextBox 5"/>
          <p:cNvSpPr txBox="1"/>
          <p:nvPr/>
        </p:nvSpPr>
        <p:spPr>
          <a:xfrm>
            <a:off x="1097280" y="2651760"/>
            <a:ext cx="9966960" cy="365760"/>
          </a:xfrm>
          <a:prstGeom prst="rect">
            <a:avLst/>
          </a:prstGeom>
          <a:noFill/>
        </p:spPr>
        <p:txBody>
          <a:bodyPr wrap="square">
            <a:spAutoFit/>
          </a:bodyPr>
          <a:lstStyle/>
          <a:p>
            <a:pPr algn="l">
              <a:defRPr sz="1400" b="0" i="0">
                <a:solidFill>
                  <a:srgbClr val="E2E2EA"/>
                </a:solidFill>
                <a:latin typeface="Calibri"/>
              </a:defRPr>
            </a:pPr>
            <a:r>
              <a:t>from Mykhailo Kukharskyi</a:t>
            </a:r>
          </a:p>
        </p:txBody>
      </p:sp>
      <p:sp>
        <p:nvSpPr>
          <p:cNvPr id="7" name="TextBox 6"/>
          <p:cNvSpPr txBox="1"/>
          <p:nvPr/>
        </p:nvSpPr>
        <p:spPr>
          <a:xfrm>
            <a:off x="1097280" y="3108960"/>
            <a:ext cx="9966960" cy="365760"/>
          </a:xfrm>
          <a:prstGeom prst="rect">
            <a:avLst/>
          </a:prstGeom>
          <a:noFill/>
        </p:spPr>
        <p:txBody>
          <a:bodyPr wrap="square">
            <a:spAutoFit/>
          </a:bodyPr>
          <a:lstStyle/>
          <a:p>
            <a:pPr algn="l">
              <a:defRPr sz="1400" b="1" i="0">
                <a:solidFill>
                  <a:srgbClr val="FFFFFF"/>
                </a:solidFill>
                <a:latin typeface="Calibri"/>
              </a:defRPr>
            </a:pPr>
            <a:r>
              <a:t>to: Gleb Krahotkin</a:t>
            </a:r>
          </a:p>
        </p:txBody>
      </p:sp>
      <p:sp>
        <p:nvSpPr>
          <p:cNvPr id="8" name="TextBox 7"/>
          <p:cNvSpPr txBox="1"/>
          <p:nvPr/>
        </p:nvSpPr>
        <p:spPr>
          <a:xfrm>
            <a:off x="1097280" y="3749039"/>
            <a:ext cx="9966960" cy="1097280"/>
          </a:xfrm>
          <a:prstGeom prst="rect">
            <a:avLst/>
          </a:prstGeom>
          <a:noFill/>
        </p:spPr>
        <p:txBody>
          <a:bodyPr wrap="square">
            <a:spAutoFit/>
          </a:bodyPr>
          <a:lstStyle/>
          <a:p>
            <a:pPr algn="l">
              <a:defRPr sz="1500" b="0" i="1">
                <a:solidFill>
                  <a:srgbClr val="E2E2EA"/>
                </a:solidFill>
                <a:latin typeface="Calibri"/>
              </a:defRPr>
            </a:pPr>
            <a:r>
              <a:t>"Outstanding Barcelona collaboration efforts"</a:t>
            </a:r>
          </a:p>
        </p:txBody>
      </p:sp>
      <p:sp>
        <p:nvSpPr>
          <p:cNvPr id="9" name="TextBox 8"/>
          <p:cNvSpPr txBox="1"/>
          <p:nvPr/>
        </p:nvSpPr>
        <p:spPr>
          <a:xfrm>
            <a:off x="1097280" y="5120640"/>
            <a:ext cx="9966960" cy="457200"/>
          </a:xfrm>
          <a:prstGeom prst="rect">
            <a:avLst/>
          </a:prstGeom>
          <a:noFill/>
        </p:spPr>
        <p:txBody>
          <a:bodyPr wrap="square">
            <a:spAutoFit/>
          </a:bodyPr>
          <a:lstStyle/>
          <a:p>
            <a:pPr algn="l">
              <a:defRPr sz="1200" b="1" i="0">
                <a:solidFill>
                  <a:srgbClr val="059669"/>
                </a:solidFill>
                <a:latin typeface="Calibri"/>
              </a:defRPr>
            </a:pPr>
            <a:r>
              <a:t>Excellence · Teamwork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7C3AED"/>
                </a:solidFill>
                <a:latin typeface="Calibri"/>
              </a:defRPr>
            </a:pPr>
            <a:r>
              <a:t>🙌  CLAPS</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7C3AED"/>
                </a:solidFill>
                <a:latin typeface="Calibri"/>
              </a:defRPr>
            </a:pPr>
            <a:r>
              <a:t>Team Excellence</a:t>
            </a:r>
          </a:p>
        </p:txBody>
      </p:sp>
      <p:sp>
        <p:nvSpPr>
          <p:cNvPr id="5" name="TextBox 4"/>
          <p:cNvSpPr txBox="1"/>
          <p:nvPr/>
        </p:nvSpPr>
        <p:spPr>
          <a:xfrm>
            <a:off x="1097280" y="2103120"/>
            <a:ext cx="2743200" cy="548640"/>
          </a:xfrm>
          <a:prstGeom prst="rect">
            <a:avLst/>
          </a:prstGeom>
          <a:noFill/>
        </p:spPr>
        <p:txBody>
          <a:bodyPr wrap="square">
            <a:spAutoFit/>
          </a:bodyPr>
          <a:lstStyle/>
          <a:p>
            <a:pPr algn="l">
              <a:defRPr sz="2800" b="1" i="0">
                <a:solidFill>
                  <a:srgbClr val="7C3AED"/>
                </a:solidFill>
                <a:latin typeface="Calibri"/>
              </a:defRPr>
            </a:pPr>
            <a:r>
              <a:t>50</a:t>
            </a:r>
          </a:p>
        </p:txBody>
      </p:sp>
      <p:sp>
        <p:nvSpPr>
          <p:cNvPr id="6" name="TextBox 5"/>
          <p:cNvSpPr txBox="1"/>
          <p:nvPr/>
        </p:nvSpPr>
        <p:spPr>
          <a:xfrm>
            <a:off x="1097280" y="2651760"/>
            <a:ext cx="9966960" cy="365760"/>
          </a:xfrm>
          <a:prstGeom prst="rect">
            <a:avLst/>
          </a:prstGeom>
          <a:noFill/>
        </p:spPr>
        <p:txBody>
          <a:bodyPr wrap="square">
            <a:spAutoFit/>
          </a:bodyPr>
          <a:lstStyle/>
          <a:p>
            <a:pPr algn="l">
              <a:defRPr sz="1400" b="0" i="0">
                <a:solidFill>
                  <a:srgbClr val="E2E2EA"/>
                </a:solidFill>
                <a:latin typeface="Calibri"/>
              </a:defRPr>
            </a:pPr>
            <a:r>
              <a:t>from Viktor Trykolenko</a:t>
            </a:r>
          </a:p>
        </p:txBody>
      </p:sp>
      <p:sp>
        <p:nvSpPr>
          <p:cNvPr id="7" name="TextBox 6"/>
          <p:cNvSpPr txBox="1"/>
          <p:nvPr/>
        </p:nvSpPr>
        <p:spPr>
          <a:xfrm>
            <a:off x="1097280" y="3108960"/>
            <a:ext cx="9966960" cy="365760"/>
          </a:xfrm>
          <a:prstGeom prst="rect">
            <a:avLst/>
          </a:prstGeom>
          <a:noFill/>
        </p:spPr>
        <p:txBody>
          <a:bodyPr wrap="square">
            <a:spAutoFit/>
          </a:bodyPr>
          <a:lstStyle/>
          <a:p>
            <a:pPr algn="l">
              <a:defRPr sz="1400" b="1" i="0">
                <a:solidFill>
                  <a:srgbClr val="FFFFFF"/>
                </a:solidFill>
                <a:latin typeface="Calibri"/>
              </a:defRPr>
            </a:pPr>
            <a:r>
              <a:t>to: Iurii Kotov</a:t>
            </a:r>
          </a:p>
        </p:txBody>
      </p:sp>
      <p:sp>
        <p:nvSpPr>
          <p:cNvPr id="8" name="TextBox 7"/>
          <p:cNvSpPr txBox="1"/>
          <p:nvPr/>
        </p:nvSpPr>
        <p:spPr>
          <a:xfrm>
            <a:off x="1097280" y="3749039"/>
            <a:ext cx="9966960" cy="1097280"/>
          </a:xfrm>
          <a:prstGeom prst="rect">
            <a:avLst/>
          </a:prstGeom>
          <a:noFill/>
        </p:spPr>
        <p:txBody>
          <a:bodyPr wrap="square">
            <a:spAutoFit/>
          </a:bodyPr>
          <a:lstStyle/>
          <a:p>
            <a:pPr algn="l">
              <a:defRPr sz="1500" b="0" i="1">
                <a:solidFill>
                  <a:srgbClr val="E2E2EA"/>
                </a:solidFill>
                <a:latin typeface="Calibri"/>
              </a:defRPr>
            </a:pPr>
            <a:r>
              <a:t>"Exceptional performance and dedication"</a:t>
            </a:r>
          </a:p>
        </p:txBody>
      </p:sp>
      <p:sp>
        <p:nvSpPr>
          <p:cNvPr id="9" name="TextBox 8"/>
          <p:cNvSpPr txBox="1"/>
          <p:nvPr/>
        </p:nvSpPr>
        <p:spPr>
          <a:xfrm>
            <a:off x="1097280" y="5120640"/>
            <a:ext cx="9966960" cy="457200"/>
          </a:xfrm>
          <a:prstGeom prst="rect">
            <a:avLst/>
          </a:prstGeom>
          <a:noFill/>
        </p:spPr>
        <p:txBody>
          <a:bodyPr wrap="square">
            <a:spAutoFit/>
          </a:bodyPr>
          <a:lstStyle/>
          <a:p>
            <a:pPr algn="l">
              <a:defRPr sz="1200" b="1" i="0">
                <a:solidFill>
                  <a:srgbClr val="7C3AED"/>
                </a:solidFill>
                <a:latin typeface="Calibri"/>
              </a:defRPr>
            </a:pPr>
            <a:r>
              <a:t>Excellence · Commitment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DC2626"/>
                </a:solidFill>
                <a:latin typeface="Calibri"/>
              </a:defRPr>
            </a:pPr>
            <a:r>
              <a:t>⭐  CLAPS</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DC2626"/>
                </a:solidFill>
                <a:latin typeface="Calibri"/>
              </a:defRPr>
            </a:pPr>
            <a:r>
              <a:t>Outstanding Achievement</a:t>
            </a:r>
          </a:p>
        </p:txBody>
      </p:sp>
      <p:sp>
        <p:nvSpPr>
          <p:cNvPr id="5" name="TextBox 4"/>
          <p:cNvSpPr txBox="1"/>
          <p:nvPr/>
        </p:nvSpPr>
        <p:spPr>
          <a:xfrm>
            <a:off x="1097280" y="2103120"/>
            <a:ext cx="2743200" cy="548640"/>
          </a:xfrm>
          <a:prstGeom prst="rect">
            <a:avLst/>
          </a:prstGeom>
          <a:noFill/>
        </p:spPr>
        <p:txBody>
          <a:bodyPr wrap="square">
            <a:spAutoFit/>
          </a:bodyPr>
          <a:lstStyle/>
          <a:p>
            <a:pPr algn="l">
              <a:defRPr sz="2800" b="1" i="0">
                <a:solidFill>
                  <a:srgbClr val="DC2626"/>
                </a:solidFill>
                <a:latin typeface="Calibri"/>
              </a:defRPr>
            </a:pPr>
            <a:r>
              <a:t>50</a:t>
            </a:r>
          </a:p>
        </p:txBody>
      </p:sp>
      <p:sp>
        <p:nvSpPr>
          <p:cNvPr id="6" name="TextBox 5"/>
          <p:cNvSpPr txBox="1"/>
          <p:nvPr/>
        </p:nvSpPr>
        <p:spPr>
          <a:xfrm>
            <a:off x="1097280" y="2651760"/>
            <a:ext cx="9966960" cy="365760"/>
          </a:xfrm>
          <a:prstGeom prst="rect">
            <a:avLst/>
          </a:prstGeom>
          <a:noFill/>
        </p:spPr>
        <p:txBody>
          <a:bodyPr wrap="square">
            <a:spAutoFit/>
          </a:bodyPr>
          <a:lstStyle/>
          <a:p>
            <a:pPr algn="l">
              <a:defRPr sz="1400" b="0" i="0">
                <a:solidFill>
                  <a:srgbClr val="E2E2EA"/>
                </a:solidFill>
                <a:latin typeface="Calibri"/>
              </a:defRPr>
            </a:pPr>
            <a:r>
              <a:t>from Jasmine Nunez</a:t>
            </a:r>
          </a:p>
        </p:txBody>
      </p:sp>
      <p:sp>
        <p:nvSpPr>
          <p:cNvPr id="7" name="TextBox 6"/>
          <p:cNvSpPr txBox="1"/>
          <p:nvPr/>
        </p:nvSpPr>
        <p:spPr>
          <a:xfrm>
            <a:off x="1097280" y="3108960"/>
            <a:ext cx="9966960" cy="365760"/>
          </a:xfrm>
          <a:prstGeom prst="rect">
            <a:avLst/>
          </a:prstGeom>
          <a:noFill/>
        </p:spPr>
        <p:txBody>
          <a:bodyPr wrap="square">
            <a:spAutoFit/>
          </a:bodyPr>
          <a:lstStyle/>
          <a:p>
            <a:pPr algn="l">
              <a:defRPr sz="1400" b="1" i="0">
                <a:solidFill>
                  <a:srgbClr val="FFFFFF"/>
                </a:solidFill>
                <a:latin typeface="Calibri"/>
              </a:defRPr>
            </a:pPr>
            <a:r>
              <a:t>to: Michelle Walter</a:t>
            </a:r>
          </a:p>
        </p:txBody>
      </p:sp>
      <p:sp>
        <p:nvSpPr>
          <p:cNvPr id="8" name="TextBox 7"/>
          <p:cNvSpPr txBox="1"/>
          <p:nvPr/>
        </p:nvSpPr>
        <p:spPr>
          <a:xfrm>
            <a:off x="1097280" y="3749039"/>
            <a:ext cx="9966960" cy="1097280"/>
          </a:xfrm>
          <a:prstGeom prst="rect">
            <a:avLst/>
          </a:prstGeom>
          <a:noFill/>
        </p:spPr>
        <p:txBody>
          <a:bodyPr wrap="square">
            <a:spAutoFit/>
          </a:bodyPr>
          <a:lstStyle/>
          <a:p>
            <a:pPr algn="l">
              <a:defRPr sz="1500" b="0" i="1">
                <a:solidFill>
                  <a:srgbClr val="E2E2EA"/>
                </a:solidFill>
                <a:latin typeface="Calibri"/>
              </a:defRPr>
            </a:pPr>
            <a:r>
              <a:t>"Delivering exceptional results"</a:t>
            </a:r>
          </a:p>
        </p:txBody>
      </p:sp>
      <p:sp>
        <p:nvSpPr>
          <p:cNvPr id="9" name="TextBox 8"/>
          <p:cNvSpPr txBox="1"/>
          <p:nvPr/>
        </p:nvSpPr>
        <p:spPr>
          <a:xfrm>
            <a:off x="1097280" y="5120640"/>
            <a:ext cx="9966960" cy="457200"/>
          </a:xfrm>
          <a:prstGeom prst="rect">
            <a:avLst/>
          </a:prstGeom>
          <a:noFill/>
        </p:spPr>
        <p:txBody>
          <a:bodyPr wrap="square">
            <a:spAutoFit/>
          </a:bodyPr>
          <a:lstStyle/>
          <a:p>
            <a:pPr algn="l">
              <a:defRPr sz="1200" b="1" i="0">
                <a:solidFill>
                  <a:srgbClr val="DC2626"/>
                </a:solidFill>
                <a:latin typeface="Calibri"/>
              </a:defRPr>
            </a:pPr>
            <a:r>
              <a:t>Excellence · Impact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EA580C"/>
                </a:solidFill>
                <a:latin typeface="Calibri"/>
              </a:defRPr>
            </a:pPr>
            <a:r>
              <a:t>🔥  CLAPS</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EA580C"/>
                </a:solidFill>
                <a:latin typeface="Calibri"/>
              </a:defRPr>
            </a:pPr>
            <a:r>
              <a:t>Multi-Team Recognition</a:t>
            </a:r>
          </a:p>
        </p:txBody>
      </p:sp>
      <p:sp>
        <p:nvSpPr>
          <p:cNvPr id="5" name="TextBox 4"/>
          <p:cNvSpPr txBox="1"/>
          <p:nvPr/>
        </p:nvSpPr>
        <p:spPr>
          <a:xfrm>
            <a:off x="1097280" y="2103120"/>
            <a:ext cx="2743200" cy="548640"/>
          </a:xfrm>
          <a:prstGeom prst="rect">
            <a:avLst/>
          </a:prstGeom>
          <a:noFill/>
        </p:spPr>
        <p:txBody>
          <a:bodyPr wrap="square">
            <a:spAutoFit/>
          </a:bodyPr>
          <a:lstStyle/>
          <a:p>
            <a:pPr algn="l">
              <a:defRPr sz="2800" b="1" i="0">
                <a:solidFill>
                  <a:srgbClr val="EA580C"/>
                </a:solidFill>
                <a:latin typeface="Calibri"/>
              </a:defRPr>
            </a:pPr>
            <a:r>
              <a:t>50</a:t>
            </a:r>
          </a:p>
        </p:txBody>
      </p:sp>
      <p:sp>
        <p:nvSpPr>
          <p:cNvPr id="6" name="TextBox 5"/>
          <p:cNvSpPr txBox="1"/>
          <p:nvPr/>
        </p:nvSpPr>
        <p:spPr>
          <a:xfrm>
            <a:off x="1097280" y="2651760"/>
            <a:ext cx="9966960" cy="365760"/>
          </a:xfrm>
          <a:prstGeom prst="rect">
            <a:avLst/>
          </a:prstGeom>
          <a:noFill/>
        </p:spPr>
        <p:txBody>
          <a:bodyPr wrap="square">
            <a:spAutoFit/>
          </a:bodyPr>
          <a:lstStyle/>
          <a:p>
            <a:pPr algn="l">
              <a:defRPr sz="1400" b="0" i="0">
                <a:solidFill>
                  <a:srgbClr val="E2E2EA"/>
                </a:solidFill>
                <a:latin typeface="Calibri"/>
              </a:defRPr>
            </a:pPr>
            <a:r>
              <a:t>from Michael Lotfy</a:t>
            </a:r>
          </a:p>
        </p:txBody>
      </p:sp>
      <p:sp>
        <p:nvSpPr>
          <p:cNvPr id="7" name="TextBox 6"/>
          <p:cNvSpPr txBox="1"/>
          <p:nvPr/>
        </p:nvSpPr>
        <p:spPr>
          <a:xfrm>
            <a:off x="1097280" y="3108960"/>
            <a:ext cx="9966960" cy="365760"/>
          </a:xfrm>
          <a:prstGeom prst="rect">
            <a:avLst/>
          </a:prstGeom>
          <a:noFill/>
        </p:spPr>
        <p:txBody>
          <a:bodyPr wrap="square">
            <a:spAutoFit/>
          </a:bodyPr>
          <a:lstStyle/>
          <a:p>
            <a:pPr algn="l">
              <a:defRPr sz="1400" b="1" i="0">
                <a:solidFill>
                  <a:srgbClr val="FFFFFF"/>
                </a:solidFill>
                <a:latin typeface="Calibri"/>
              </a:defRPr>
            </a:pPr>
            <a:r>
              <a:t>to: Issa Isahakyan</a:t>
            </a:r>
          </a:p>
        </p:txBody>
      </p:sp>
      <p:sp>
        <p:nvSpPr>
          <p:cNvPr id="8" name="TextBox 7"/>
          <p:cNvSpPr txBox="1"/>
          <p:nvPr/>
        </p:nvSpPr>
        <p:spPr>
          <a:xfrm>
            <a:off x="1097280" y="3749039"/>
            <a:ext cx="9966960" cy="1097280"/>
          </a:xfrm>
          <a:prstGeom prst="rect">
            <a:avLst/>
          </a:prstGeom>
          <a:noFill/>
        </p:spPr>
        <p:txBody>
          <a:bodyPr wrap="square">
            <a:spAutoFit/>
          </a:bodyPr>
          <a:lstStyle/>
          <a:p>
            <a:pPr algn="l">
              <a:defRPr sz="1500" b="0" i="1">
                <a:solidFill>
                  <a:srgbClr val="E2E2EA"/>
                </a:solidFill>
                <a:latin typeface="Calibri"/>
              </a:defRPr>
            </a:pPr>
            <a:r>
              <a:t>"Cross-functional excellence and leadership"</a:t>
            </a:r>
          </a:p>
        </p:txBody>
      </p:sp>
      <p:sp>
        <p:nvSpPr>
          <p:cNvPr id="9" name="TextBox 8"/>
          <p:cNvSpPr txBox="1"/>
          <p:nvPr/>
        </p:nvSpPr>
        <p:spPr>
          <a:xfrm>
            <a:off x="1097280" y="5120640"/>
            <a:ext cx="9966960" cy="457200"/>
          </a:xfrm>
          <a:prstGeom prst="rect">
            <a:avLst/>
          </a:prstGeom>
          <a:noFill/>
        </p:spPr>
        <p:txBody>
          <a:bodyPr wrap="square">
            <a:spAutoFit/>
          </a:bodyPr>
          <a:lstStyle/>
          <a:p>
            <a:pPr algn="l">
              <a:defRPr sz="1200" b="1" i="0">
                <a:solidFill>
                  <a:srgbClr val="EA580C"/>
                </a:solidFill>
                <a:latin typeface="Calibri"/>
              </a:defRPr>
            </a:pPr>
            <a:r>
              <a:t>Leadership · Collaboration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0891B2"/>
                </a:solidFill>
                <a:latin typeface="Calibri"/>
              </a:defRPr>
            </a:pPr>
            <a:r>
              <a:t>😅  OFFICE LIFE</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0891B2"/>
                </a:solidFill>
                <a:latin typeface="Calibri"/>
              </a:defRPr>
            </a:pPr>
            <a:r>
              <a:t>Family First</a:t>
            </a:r>
          </a:p>
        </p:txBody>
      </p:sp>
      <p:sp>
        <p:nvSpPr>
          <p:cNvPr id="5" name="TextBox 4"/>
          <p:cNvSpPr txBox="1"/>
          <p:nvPr/>
        </p:nvSpPr>
        <p:spPr>
          <a:xfrm>
            <a:off x="1097280" y="2103120"/>
            <a:ext cx="9966960" cy="457200"/>
          </a:xfrm>
          <a:prstGeom prst="rect">
            <a:avLst/>
          </a:prstGeom>
          <a:noFill/>
        </p:spPr>
        <p:txBody>
          <a:bodyPr wrap="square">
            <a:spAutoFit/>
          </a:bodyPr>
          <a:lstStyle/>
          <a:p>
            <a:pPr algn="l">
              <a:defRPr sz="1800" b="1" i="0">
                <a:solidFill>
                  <a:srgbClr val="FFFFFF"/>
                </a:solidFill>
                <a:latin typeface="Calibri"/>
              </a:defRPr>
            </a:pPr>
            <a:r>
              <a:t>Sometimes life happens</a:t>
            </a:r>
          </a:p>
        </p:txBody>
      </p:sp>
      <p:sp>
        <p:nvSpPr>
          <p:cNvPr id="6" name="TextBox 5"/>
          <p:cNvSpPr txBox="1"/>
          <p:nvPr/>
        </p:nvSpPr>
        <p:spPr>
          <a:xfrm>
            <a:off x="1371600" y="2743200"/>
            <a:ext cx="9692640" cy="1828800"/>
          </a:xfrm>
          <a:prstGeom prst="rect">
            <a:avLst/>
          </a:prstGeom>
          <a:noFill/>
        </p:spPr>
        <p:txBody>
          <a:bodyPr wrap="square">
            <a:spAutoFit/>
          </a:bodyPr>
          <a:lstStyle/>
          <a:p>
            <a:pPr algn="l">
              <a:defRPr sz="1500" b="0" i="1">
                <a:solidFill>
                  <a:srgbClr val="E2E2EA"/>
                </a:solidFill>
                <a:latin typeface="Calibri"/>
              </a:defRPr>
            </a:pPr>
            <a:r>
              <a:t>"Pavel had to skip Friday meetings due to a family emergency, reminding us all that family comes first. The team rallied with hearts, prayers, and support."</a:t>
            </a:r>
          </a:p>
        </p:txBody>
      </p:sp>
      <p:sp>
        <p:nvSpPr>
          <p:cNvPr id="7" name="TextBox 6"/>
          <p:cNvSpPr txBox="1"/>
          <p:nvPr/>
        </p:nvSpPr>
        <p:spPr>
          <a:xfrm>
            <a:off x="1097280" y="4754880"/>
            <a:ext cx="9966960" cy="365760"/>
          </a:xfrm>
          <a:prstGeom prst="rect">
            <a:avLst/>
          </a:prstGeom>
          <a:noFill/>
        </p:spPr>
        <p:txBody>
          <a:bodyPr wrap="square">
            <a:spAutoFit/>
          </a:bodyPr>
          <a:lstStyle/>
          <a:p>
            <a:pPr algn="l">
              <a:defRPr sz="1400" b="0" i="0">
                <a:solidFill>
                  <a:srgbClr val="8F95A3"/>
                </a:solidFill>
                <a:latin typeface="Calibri"/>
              </a:defRPr>
            </a:pPr>
            <a:r>
              <a:t>— Team Response</a:t>
            </a:r>
          </a:p>
        </p:txBody>
      </p:sp>
      <p:sp>
        <p:nvSpPr>
          <p:cNvPr id="8" name="TextBox 7"/>
          <p:cNvSpPr txBox="1"/>
          <p:nvPr/>
        </p:nvSpPr>
        <p:spPr>
          <a:xfrm>
            <a:off x="1097280" y="5212080"/>
            <a:ext cx="9966960" cy="365760"/>
          </a:xfrm>
          <a:prstGeom prst="rect">
            <a:avLst/>
          </a:prstGeom>
          <a:noFill/>
        </p:spPr>
        <p:txBody>
          <a:bodyPr wrap="square">
            <a:spAutoFit/>
          </a:bodyPr>
          <a:lstStyle/>
          <a:p>
            <a:pPr algn="l">
              <a:defRPr sz="1400" b="1" i="0">
                <a:solidFill>
                  <a:srgbClr val="0891B2"/>
                </a:solidFill>
                <a:latin typeface="Calibri"/>
              </a:defRPr>
            </a:pPr>
            <a:r>
              <a:t>29 hearts, 7 prayers</a:t>
            </a:r>
          </a:p>
        </p:txBody>
      </p:sp>
      <p:sp>
        <p:nvSpPr>
          <p:cNvPr id="9" name="TextBox 8"/>
          <p:cNvSpPr txBox="1"/>
          <p:nvPr/>
        </p:nvSpPr>
        <p:spPr>
          <a:xfrm>
            <a:off x="1097280" y="5760720"/>
            <a:ext cx="9966960" cy="274320"/>
          </a:xfrm>
          <a:prstGeom prst="rect">
            <a:avLst/>
          </a:prstGeom>
          <a:noFill/>
        </p:spPr>
        <p:txBody>
          <a:bodyPr wrap="square">
            <a:spAutoFit/>
          </a:bodyPr>
          <a:lstStyle/>
          <a:p>
            <a:pPr algn="l">
              <a:defRPr sz="1100" b="0" i="0">
                <a:solidFill>
                  <a:srgbClr val="5C6270"/>
                </a:solidFill>
                <a:latin typeface="Calibri"/>
              </a:defRPr>
            </a:pPr>
            <a:r>
              <a:t>#general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059669"/>
                </a:solidFill>
                <a:latin typeface="Calibri"/>
              </a:defRPr>
            </a:pPr>
            <a:r>
              <a:t>🚀  WIN</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059669"/>
                </a:solidFill>
                <a:latin typeface="Calibri"/>
              </a:defRPr>
            </a:pPr>
            <a:r>
              <a:t>Innovation Mindset</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4800" b="1" i="0">
                <a:solidFill>
                  <a:srgbClr val="059669"/>
                </a:solidFill>
                <a:latin typeface="Calibri"/>
              </a:defRPr>
            </a:pPr>
            <a:r>
              <a:t>Many</a:t>
            </a:r>
          </a:p>
        </p:txBody>
      </p:sp>
      <p:sp>
        <p:nvSpPr>
          <p:cNvPr id="6" name="TextBox 5"/>
          <p:cNvSpPr txBox="1"/>
          <p:nvPr/>
        </p:nvSpPr>
        <p:spPr>
          <a:xfrm>
            <a:off x="1097280" y="2834640"/>
            <a:ext cx="4572000" cy="365760"/>
          </a:xfrm>
          <a:prstGeom prst="rect">
            <a:avLst/>
          </a:prstGeom>
          <a:noFill/>
        </p:spPr>
        <p:txBody>
          <a:bodyPr wrap="square">
            <a:spAutoFit/>
          </a:bodyPr>
          <a:lstStyle/>
          <a:p>
            <a:pPr algn="l">
              <a:defRPr sz="1200" b="0" i="0">
                <a:solidFill>
                  <a:srgbClr val="8F95A3"/>
                </a:solidFill>
                <a:latin typeface="Calibri"/>
              </a:defRPr>
            </a:pPr>
            <a:r>
              <a:t>Tools Built</a:t>
            </a:r>
          </a:p>
        </p:txBody>
      </p:sp>
      <p:sp>
        <p:nvSpPr>
          <p:cNvPr id="7" name="TextBox 6"/>
          <p:cNvSpPr txBox="1"/>
          <p:nvPr/>
        </p:nvSpPr>
        <p:spPr>
          <a:xfrm>
            <a:off x="1097280" y="3291840"/>
            <a:ext cx="9966960" cy="365760"/>
          </a:xfrm>
          <a:prstGeom prst="rect">
            <a:avLst/>
          </a:prstGeom>
          <a:noFill/>
        </p:spPr>
        <p:txBody>
          <a:bodyPr wrap="square">
            <a:spAutoFit/>
          </a:bodyPr>
          <a:lstStyle/>
          <a:p>
            <a:pPr algn="l">
              <a:defRPr sz="1400" b="0" i="0">
                <a:solidFill>
                  <a:srgbClr val="E2E2EA"/>
                </a:solidFill>
                <a:latin typeface="Calibri"/>
              </a:defRPr>
            </a:pPr>
            <a:r>
              <a:t>by Non-Engineering Teams</a:t>
            </a:r>
          </a:p>
        </p:txBody>
      </p:sp>
      <p:sp>
        <p:nvSpPr>
          <p:cNvPr id="8" name="TextBox 7"/>
          <p:cNvSpPr txBox="1"/>
          <p:nvPr/>
        </p:nvSpPr>
        <p:spPr>
          <a:xfrm>
            <a:off x="1097280" y="3840480"/>
            <a:ext cx="9966960" cy="457200"/>
          </a:xfrm>
          <a:prstGeom prst="rect">
            <a:avLst/>
          </a:prstGeom>
          <a:noFill/>
        </p:spPr>
        <p:txBody>
          <a:bodyPr wrap="square">
            <a:spAutoFit/>
          </a:bodyPr>
          <a:lstStyle/>
          <a:p>
            <a:pPr algn="l">
              <a:defRPr sz="1800" b="1" i="0">
                <a:solidFill>
                  <a:srgbClr val="FFFFFF"/>
                </a:solidFill>
                <a:latin typeface="Calibri"/>
              </a:defRPr>
            </a:pPr>
            <a:r>
              <a:t>Non-technical teams building powerful tools</a:t>
            </a:r>
          </a:p>
        </p:txBody>
      </p:sp>
      <p:sp>
        <p:nvSpPr>
          <p:cNvPr id="9" name="TextBox 8"/>
          <p:cNvSpPr txBox="1"/>
          <p:nvPr/>
        </p:nvSpPr>
        <p:spPr>
          <a:xfrm>
            <a:off x="1097280" y="4389120"/>
            <a:ext cx="9966960" cy="914400"/>
          </a:xfrm>
          <a:prstGeom prst="rect">
            <a:avLst/>
          </a:prstGeom>
          <a:noFill/>
        </p:spPr>
        <p:txBody>
          <a:bodyPr wrap="square">
            <a:spAutoFit/>
          </a:bodyPr>
          <a:lstStyle/>
          <a:p>
            <a:pPr algn="l">
              <a:defRPr sz="1400" b="0" i="0">
                <a:solidFill>
                  <a:srgbClr val="E2E2EA"/>
                </a:solidFill>
                <a:latin typeface="Calibri"/>
              </a:defRPr>
            </a:pPr>
            <a:r>
              <a:t>We're seeing incredible innovation as non-engineering teams rapidly create useful tools, showing we're learning fast and moving in the right direction.</a:t>
            </a:r>
          </a:p>
        </p:txBody>
      </p:sp>
      <p:sp>
        <p:nvSpPr>
          <p:cNvPr id="10" name="TextBox 9"/>
          <p:cNvSpPr txBox="1"/>
          <p:nvPr/>
        </p:nvSpPr>
        <p:spPr>
          <a:xfrm>
            <a:off x="1097280" y="5486400"/>
            <a:ext cx="9966960" cy="457200"/>
          </a:xfrm>
          <a:prstGeom prst="rect">
            <a:avLst/>
          </a:prstGeom>
          <a:noFill/>
        </p:spPr>
        <p:txBody>
          <a:bodyPr wrap="square">
            <a:spAutoFit/>
          </a:bodyPr>
          <a:lstStyle/>
          <a:p>
            <a:pPr algn="l">
              <a:defRPr sz="1300" b="0" i="1">
                <a:solidFill>
                  <a:srgbClr val="8F95A3"/>
                </a:solidFill>
                <a:latin typeface="Calibri"/>
              </a:defRPr>
            </a:pPr>
            <a:r>
              <a:t>💬 "This demonstrates our culture of empowerment and rapid learning across all functions"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7C2D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7C2D12"/>
                </a:solidFill>
                <a:latin typeface="Calibri"/>
              </a:defRPr>
            </a:pPr>
            <a:r>
              <a:t>🔒  EVENT</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7C2D12"/>
                </a:solidFill>
                <a:latin typeface="Calibri"/>
              </a:defRPr>
            </a:pPr>
            <a:r>
              <a:t>Engineering Standards</a:t>
            </a:r>
          </a:p>
        </p:txBody>
      </p:sp>
      <p:sp>
        <p:nvSpPr>
          <p:cNvPr id="5" name="TextBox 4"/>
          <p:cNvSpPr txBox="1"/>
          <p:nvPr/>
        </p:nvSpPr>
        <p:spPr>
          <a:xfrm>
            <a:off x="1097280" y="2103120"/>
            <a:ext cx="9966960" cy="548640"/>
          </a:xfrm>
          <a:prstGeom prst="rect">
            <a:avLst/>
          </a:prstGeom>
          <a:noFill/>
        </p:spPr>
        <p:txBody>
          <a:bodyPr wrap="square">
            <a:spAutoFit/>
          </a:bodyPr>
          <a:lstStyle/>
          <a:p>
            <a:pPr algn="l">
              <a:defRPr sz="2200" b="1" i="0">
                <a:solidFill>
                  <a:srgbClr val="FFFFFF"/>
                </a:solidFill>
                <a:latin typeface="Calibri"/>
              </a:defRPr>
            </a:pPr>
            <a:r>
              <a:t>Security &amp; Deployment Best Practices</a:t>
            </a:r>
          </a:p>
        </p:txBody>
      </p:sp>
      <p:sp>
        <p:nvSpPr>
          <p:cNvPr id="6" name="TextBox 5"/>
          <p:cNvSpPr txBox="1"/>
          <p:nvPr/>
        </p:nvSpPr>
        <p:spPr>
          <a:xfrm>
            <a:off x="1097280" y="2743200"/>
            <a:ext cx="9966960" cy="365760"/>
          </a:xfrm>
          <a:prstGeom prst="rect">
            <a:avLst/>
          </a:prstGeom>
          <a:noFill/>
        </p:spPr>
        <p:txBody>
          <a:bodyPr wrap="square">
            <a:spAutoFit/>
          </a:bodyPr>
          <a:lstStyle/>
          <a:p>
            <a:pPr algn="l">
              <a:defRPr sz="1400" b="1" i="0">
                <a:solidFill>
                  <a:srgbClr val="7C2D12"/>
                </a:solidFill>
                <a:latin typeface="Calibri"/>
              </a:defRPr>
            </a:pPr>
            <a:r>
              <a:t>Now Active</a:t>
            </a:r>
          </a:p>
        </p:txBody>
      </p:sp>
      <p:sp>
        <p:nvSpPr>
          <p:cNvPr id="7" name="TextBox 6"/>
          <p:cNvSpPr txBox="1"/>
          <p:nvPr/>
        </p:nvSpPr>
        <p:spPr>
          <a:xfrm>
            <a:off x="1097280" y="3291840"/>
            <a:ext cx="9966960" cy="1371600"/>
          </a:xfrm>
          <a:prstGeom prst="rect">
            <a:avLst/>
          </a:prstGeom>
          <a:noFill/>
        </p:spPr>
        <p:txBody>
          <a:bodyPr wrap="square">
            <a:spAutoFit/>
          </a:bodyPr>
          <a:lstStyle/>
          <a:p>
            <a:pPr algn="l">
              <a:defRPr sz="1500" b="0" i="0">
                <a:solidFill>
                  <a:srgbClr val="E2E2EA"/>
                </a:solidFill>
                <a:latin typeface="Calibri"/>
              </a:defRPr>
            </a:pPr>
            <a:r>
              <a:t>As we scale, we're implementing proper engineering and security practices with managed deployments to ensure sustainable growth.</a:t>
            </a:r>
          </a:p>
        </p:txBody>
      </p:sp>
      <p:sp>
        <p:nvSpPr>
          <p:cNvPr id="8" name="TextBox 7"/>
          <p:cNvSpPr txBox="1"/>
          <p:nvPr/>
        </p:nvSpPr>
        <p:spPr>
          <a:xfrm>
            <a:off x="1097280" y="5029200"/>
            <a:ext cx="9966960" cy="365760"/>
          </a:xfrm>
          <a:prstGeom prst="rect">
            <a:avLst/>
          </a:prstGeom>
          <a:noFill/>
        </p:spPr>
        <p:txBody>
          <a:bodyPr wrap="square">
            <a:spAutoFit/>
          </a:bodyPr>
          <a:lstStyle/>
          <a:p>
            <a:pPr algn="l">
              <a:defRPr sz="1300" b="0" i="0">
                <a:solidFill>
                  <a:srgbClr val="8F95A3"/>
                </a:solidFill>
                <a:latin typeface="Calibri"/>
              </a:defRPr>
            </a:pPr>
            <a:r>
              <a:t>Organized by Engineering Team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059669"/>
                </a:solidFill>
                <a:latin typeface="Calibri"/>
              </a:defRPr>
            </a:pPr>
            <a:r>
              <a:t>💰  MILESTONE</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059669"/>
                </a:solidFill>
                <a:latin typeface="Calibri"/>
              </a:defRPr>
            </a:pPr>
            <a:r>
              <a:t>Company Growth</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5200" b="1" i="0">
                <a:solidFill>
                  <a:srgbClr val="059669"/>
                </a:solidFill>
                <a:latin typeface="Calibri"/>
              </a:defRPr>
            </a:pPr>
            <a:r>
              <a:t>$100M</a:t>
            </a:r>
          </a:p>
        </p:txBody>
      </p:sp>
      <p:sp>
        <p:nvSpPr>
          <p:cNvPr id="6" name="TextBox 5"/>
          <p:cNvSpPr txBox="1"/>
          <p:nvPr/>
        </p:nvSpPr>
        <p:spPr>
          <a:xfrm>
            <a:off x="1097280" y="2926080"/>
            <a:ext cx="4572000" cy="365760"/>
          </a:xfrm>
          <a:prstGeom prst="rect">
            <a:avLst/>
          </a:prstGeom>
          <a:noFill/>
        </p:spPr>
        <p:txBody>
          <a:bodyPr wrap="square">
            <a:spAutoFit/>
          </a:bodyPr>
          <a:lstStyle/>
          <a:p>
            <a:pPr algn="l">
              <a:defRPr sz="1100" b="0" i="0">
                <a:solidFill>
                  <a:srgbClr val="8F95A3"/>
                </a:solidFill>
                <a:latin typeface="Calibri"/>
              </a:defRPr>
            </a:pPr>
            <a:r>
              <a:t>Gross Profit with 40% YoY Growth</a:t>
            </a:r>
          </a:p>
        </p:txBody>
      </p:sp>
      <p:sp>
        <p:nvSpPr>
          <p:cNvPr id="7" name="TextBox 6"/>
          <p:cNvSpPr txBox="1"/>
          <p:nvPr/>
        </p:nvSpPr>
        <p:spPr>
          <a:xfrm>
            <a:off x="1097280" y="3566160"/>
            <a:ext cx="9966960" cy="457200"/>
          </a:xfrm>
          <a:prstGeom prst="rect">
            <a:avLst/>
          </a:prstGeom>
          <a:noFill/>
        </p:spPr>
        <p:txBody>
          <a:bodyPr wrap="square">
            <a:spAutoFit/>
          </a:bodyPr>
          <a:lstStyle/>
          <a:p>
            <a:pPr algn="l">
              <a:defRPr sz="1800" b="1" i="0">
                <a:solidFill>
                  <a:srgbClr val="FFFFFF"/>
                </a:solidFill>
                <a:latin typeface="Calibri"/>
              </a:defRPr>
            </a:pPr>
            <a:r>
              <a:t>Impressive financial trajectory</a:t>
            </a:r>
          </a:p>
        </p:txBody>
      </p:sp>
      <p:sp>
        <p:nvSpPr>
          <p:cNvPr id="8" name="TextBox 7"/>
          <p:cNvSpPr txBox="1"/>
          <p:nvPr/>
        </p:nvSpPr>
        <p:spPr>
          <a:xfrm>
            <a:off x="1097280" y="4206240"/>
            <a:ext cx="9966960" cy="1371600"/>
          </a:xfrm>
          <a:prstGeom prst="rect">
            <a:avLst/>
          </a:prstGeom>
          <a:noFill/>
        </p:spPr>
        <p:txBody>
          <a:bodyPr wrap="square">
            <a:spAutoFit/>
          </a:bodyPr>
          <a:lstStyle/>
          <a:p>
            <a:pPr algn="l">
              <a:defRPr sz="1500" b="0" i="0">
                <a:solidFill>
                  <a:srgbClr val="E2E2EA"/>
                </a:solidFill>
                <a:latin typeface="Calibri"/>
              </a:defRPr>
            </a:pPr>
            <a:r>
              <a:t>Strong fundamentals driving sustainable expansion across all business units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7C3AED"/>
                </a:solidFill>
                <a:latin typeface="Calibri"/>
              </a:defRPr>
            </a:pPr>
            <a:r>
              <a:t>🤖  WIN</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7C3AED"/>
                </a:solidFill>
                <a:latin typeface="Calibri"/>
              </a:defRPr>
            </a:pPr>
            <a:r>
              <a:t>AI Revolution</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4800" b="1" i="0">
                <a:solidFill>
                  <a:srgbClr val="7C3AED"/>
                </a:solidFill>
                <a:latin typeface="Calibri"/>
              </a:defRPr>
            </a:pPr>
            <a:r>
              <a:t>5-10</a:t>
            </a:r>
          </a:p>
        </p:txBody>
      </p:sp>
      <p:sp>
        <p:nvSpPr>
          <p:cNvPr id="6" name="TextBox 5"/>
          <p:cNvSpPr txBox="1"/>
          <p:nvPr/>
        </p:nvSpPr>
        <p:spPr>
          <a:xfrm>
            <a:off x="1097280" y="2834640"/>
            <a:ext cx="4572000" cy="365760"/>
          </a:xfrm>
          <a:prstGeom prst="rect">
            <a:avLst/>
          </a:prstGeom>
          <a:noFill/>
        </p:spPr>
        <p:txBody>
          <a:bodyPr wrap="square">
            <a:spAutoFit/>
          </a:bodyPr>
          <a:lstStyle/>
          <a:p>
            <a:pPr algn="l">
              <a:defRPr sz="1200" b="0" i="0">
                <a:solidFill>
                  <a:srgbClr val="8F95A3"/>
                </a:solidFill>
                <a:latin typeface="Calibri"/>
              </a:defRPr>
            </a:pPr>
            <a:r>
              <a:t>AI Agents per Person</a:t>
            </a:r>
          </a:p>
        </p:txBody>
      </p:sp>
      <p:sp>
        <p:nvSpPr>
          <p:cNvPr id="7" name="TextBox 6"/>
          <p:cNvSpPr txBox="1"/>
          <p:nvPr/>
        </p:nvSpPr>
        <p:spPr>
          <a:xfrm>
            <a:off x="1097280" y="3291840"/>
            <a:ext cx="9966960" cy="365760"/>
          </a:xfrm>
          <a:prstGeom prst="rect">
            <a:avLst/>
          </a:prstGeom>
          <a:noFill/>
        </p:spPr>
        <p:txBody>
          <a:bodyPr wrap="square">
            <a:spAutoFit/>
          </a:bodyPr>
          <a:lstStyle/>
          <a:p>
            <a:pPr algn="l">
              <a:defRPr sz="1400" b="0" i="0">
                <a:solidFill>
                  <a:srgbClr val="E2E2EA"/>
                </a:solidFill>
                <a:latin typeface="Calibri"/>
              </a:defRPr>
            </a:pPr>
            <a:r>
              <a:t>by Every Employee</a:t>
            </a:r>
          </a:p>
        </p:txBody>
      </p:sp>
      <p:sp>
        <p:nvSpPr>
          <p:cNvPr id="8" name="TextBox 7"/>
          <p:cNvSpPr txBox="1"/>
          <p:nvPr/>
        </p:nvSpPr>
        <p:spPr>
          <a:xfrm>
            <a:off x="1097280" y="3840480"/>
            <a:ext cx="9966960" cy="457200"/>
          </a:xfrm>
          <a:prstGeom prst="rect">
            <a:avLst/>
          </a:prstGeom>
          <a:noFill/>
        </p:spPr>
        <p:txBody>
          <a:bodyPr wrap="square">
            <a:spAutoFit/>
          </a:bodyPr>
          <a:lstStyle/>
          <a:p>
            <a:pPr algn="l">
              <a:defRPr sz="1800" b="1" i="0">
                <a:solidFill>
                  <a:srgbClr val="FFFFFF"/>
                </a:solidFill>
                <a:latin typeface="Calibri"/>
              </a:defRPr>
            </a:pPr>
            <a:r>
              <a:t>Transforming how we work with AI</a:t>
            </a:r>
          </a:p>
        </p:txBody>
      </p:sp>
      <p:sp>
        <p:nvSpPr>
          <p:cNvPr id="9" name="TextBox 8"/>
          <p:cNvSpPr txBox="1"/>
          <p:nvPr/>
        </p:nvSpPr>
        <p:spPr>
          <a:xfrm>
            <a:off x="1097280" y="4389120"/>
            <a:ext cx="9966960" cy="914400"/>
          </a:xfrm>
          <a:prstGeom prst="rect">
            <a:avLst/>
          </a:prstGeom>
          <a:noFill/>
        </p:spPr>
        <p:txBody>
          <a:bodyPr wrap="square">
            <a:spAutoFit/>
          </a:bodyPr>
          <a:lstStyle/>
          <a:p>
            <a:pPr algn="l">
              <a:defRPr sz="1400" b="0" i="0">
                <a:solidFill>
                  <a:srgbClr val="E2E2EA"/>
                </a:solidFill>
                <a:latin typeface="Calibri"/>
              </a:defRPr>
            </a:pPr>
            <a:r>
              <a:t>Within 3-6 months, every team member will manage multiple AI agents, fundamentally changing our productivity and capabilities.</a:t>
            </a:r>
          </a:p>
        </p:txBody>
      </p:sp>
      <p:sp>
        <p:nvSpPr>
          <p:cNvPr id="10" name="TextBox 9"/>
          <p:cNvSpPr txBox="1"/>
          <p:nvPr/>
        </p:nvSpPr>
        <p:spPr>
          <a:xfrm>
            <a:off x="1097280" y="5486400"/>
            <a:ext cx="9966960" cy="457200"/>
          </a:xfrm>
          <a:prstGeom prst="rect">
            <a:avLst/>
          </a:prstGeom>
          <a:noFill/>
        </p:spPr>
        <p:txBody>
          <a:bodyPr wrap="square">
            <a:spAutoFit/>
          </a:bodyPr>
          <a:lstStyle/>
          <a:p>
            <a:pPr algn="l">
              <a:defRPr sz="1300" b="0" i="1">
                <a:solidFill>
                  <a:srgbClr val="8F95A3"/>
                </a:solidFill>
                <a:latin typeface="Calibri"/>
              </a:defRPr>
            </a:pPr>
            <a:r>
              <a:t>💬 "We're not just using AI—we're building the future of 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DC2626"/>
                </a:solidFill>
                <a:latin typeface="Calibri"/>
              </a:defRPr>
            </a:pPr>
            <a:r>
              <a:t>🎯  WIN</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DC2626"/>
                </a:solidFill>
                <a:latin typeface="Calibri"/>
              </a:defRPr>
            </a:pPr>
            <a:r>
              <a:t>Fraud Prevention Victory</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4800" b="1" i="0">
                <a:solidFill>
                  <a:srgbClr val="DC2626"/>
                </a:solidFill>
                <a:latin typeface="Calibri"/>
              </a:defRPr>
            </a:pPr>
            <a:r>
              <a:t>22% → 4%</a:t>
            </a:r>
          </a:p>
        </p:txBody>
      </p:sp>
      <p:sp>
        <p:nvSpPr>
          <p:cNvPr id="6" name="TextBox 5"/>
          <p:cNvSpPr txBox="1"/>
          <p:nvPr/>
        </p:nvSpPr>
        <p:spPr>
          <a:xfrm>
            <a:off x="1097280" y="2834640"/>
            <a:ext cx="4572000" cy="365760"/>
          </a:xfrm>
          <a:prstGeom prst="rect">
            <a:avLst/>
          </a:prstGeom>
          <a:noFill/>
        </p:spPr>
        <p:txBody>
          <a:bodyPr wrap="square">
            <a:spAutoFit/>
          </a:bodyPr>
          <a:lstStyle/>
          <a:p>
            <a:pPr algn="l">
              <a:defRPr sz="1200" b="0" i="0">
                <a:solidFill>
                  <a:srgbClr val="8F95A3"/>
                </a:solidFill>
                <a:latin typeface="Calibri"/>
              </a:defRPr>
            </a:pPr>
            <a:r>
              <a:t>Fraud Rate Reduction</a:t>
            </a:r>
          </a:p>
        </p:txBody>
      </p:sp>
      <p:sp>
        <p:nvSpPr>
          <p:cNvPr id="7" name="TextBox 6"/>
          <p:cNvSpPr txBox="1"/>
          <p:nvPr/>
        </p:nvSpPr>
        <p:spPr>
          <a:xfrm>
            <a:off x="1097280" y="3291840"/>
            <a:ext cx="9966960" cy="365760"/>
          </a:xfrm>
          <a:prstGeom prst="rect">
            <a:avLst/>
          </a:prstGeom>
          <a:noFill/>
        </p:spPr>
        <p:txBody>
          <a:bodyPr wrap="square">
            <a:spAutoFit/>
          </a:bodyPr>
          <a:lstStyle/>
          <a:p>
            <a:pPr algn="l">
              <a:defRPr sz="1400" b="0" i="0">
                <a:solidFill>
                  <a:srgbClr val="E2E2EA"/>
                </a:solidFill>
                <a:latin typeface="Calibri"/>
              </a:defRPr>
            </a:pPr>
            <a:r>
              <a:t>by Security Team</a:t>
            </a:r>
          </a:p>
        </p:txBody>
      </p:sp>
      <p:sp>
        <p:nvSpPr>
          <p:cNvPr id="8" name="TextBox 7"/>
          <p:cNvSpPr txBox="1"/>
          <p:nvPr/>
        </p:nvSpPr>
        <p:spPr>
          <a:xfrm>
            <a:off x="1097280" y="3840480"/>
            <a:ext cx="9966960" cy="457200"/>
          </a:xfrm>
          <a:prstGeom prst="rect">
            <a:avLst/>
          </a:prstGeom>
          <a:noFill/>
        </p:spPr>
        <p:txBody>
          <a:bodyPr wrap="square">
            <a:spAutoFit/>
          </a:bodyPr>
          <a:lstStyle/>
          <a:p>
            <a:pPr algn="l">
              <a:defRPr sz="1800" b="1" i="0">
                <a:solidFill>
                  <a:srgbClr val="FFFFFF"/>
                </a:solidFill>
                <a:latin typeface="Calibri"/>
              </a:defRPr>
            </a:pPr>
            <a:r>
              <a:t>Massive fraud reduction achieved</a:t>
            </a:r>
          </a:p>
        </p:txBody>
      </p:sp>
      <p:sp>
        <p:nvSpPr>
          <p:cNvPr id="9" name="TextBox 8"/>
          <p:cNvSpPr txBox="1"/>
          <p:nvPr/>
        </p:nvSpPr>
        <p:spPr>
          <a:xfrm>
            <a:off x="1097280" y="4389120"/>
            <a:ext cx="9966960" cy="914400"/>
          </a:xfrm>
          <a:prstGeom prst="rect">
            <a:avLst/>
          </a:prstGeom>
          <a:noFill/>
        </p:spPr>
        <p:txBody>
          <a:bodyPr wrap="square">
            <a:spAutoFit/>
          </a:bodyPr>
          <a:lstStyle/>
          <a:p>
            <a:pPr algn="l">
              <a:defRPr sz="1400" b="0" i="0">
                <a:solidFill>
                  <a:srgbClr val="E2E2EA"/>
                </a:solidFill>
                <a:latin typeface="Calibri"/>
              </a:defRPr>
            </a:pPr>
            <a:r>
              <a:t>Dynamic SDK signatures have dramatically cut fraud from 22% to under 4%, protecting our revenue and partner trust.</a:t>
            </a:r>
          </a:p>
        </p:txBody>
      </p:sp>
      <p:sp>
        <p:nvSpPr>
          <p:cNvPr id="10" name="TextBox 9"/>
          <p:cNvSpPr txBox="1"/>
          <p:nvPr/>
        </p:nvSpPr>
        <p:spPr>
          <a:xfrm>
            <a:off x="1097280" y="5486400"/>
            <a:ext cx="9966960" cy="457200"/>
          </a:xfrm>
          <a:prstGeom prst="rect">
            <a:avLst/>
          </a:prstGeom>
          <a:noFill/>
        </p:spPr>
        <p:txBody>
          <a:bodyPr wrap="square">
            <a:spAutoFit/>
          </a:bodyPr>
          <a:lstStyle/>
          <a:p>
            <a:pPr algn="l">
              <a:defRPr sz="1300" b="0" i="1">
                <a:solidFill>
                  <a:srgbClr val="8F95A3"/>
                </a:solidFill>
                <a:latin typeface="Calibri"/>
              </a:defRPr>
            </a:pPr>
            <a:r>
              <a:t>💬 "Advanced security measures are paying off with real business impact"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059669"/>
                </a:solidFill>
                <a:latin typeface="Calibri"/>
              </a:defRPr>
            </a:pPr>
            <a:r>
              <a:t>🎮  WIN</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059669"/>
                </a:solidFill>
                <a:latin typeface="Calibri"/>
              </a:defRPr>
            </a:pPr>
            <a:r>
              <a:t>Gaming Profitability</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4800" b="1" i="0">
                <a:solidFill>
                  <a:srgbClr val="059669"/>
                </a:solidFill>
                <a:latin typeface="Calibri"/>
              </a:defRPr>
            </a:pPr>
            <a:r>
              <a:t>2025</a:t>
            </a:r>
          </a:p>
        </p:txBody>
      </p:sp>
      <p:sp>
        <p:nvSpPr>
          <p:cNvPr id="6" name="TextBox 5"/>
          <p:cNvSpPr txBox="1"/>
          <p:nvPr/>
        </p:nvSpPr>
        <p:spPr>
          <a:xfrm>
            <a:off x="1097280" y="2834640"/>
            <a:ext cx="4572000" cy="365760"/>
          </a:xfrm>
          <a:prstGeom prst="rect">
            <a:avLst/>
          </a:prstGeom>
          <a:noFill/>
        </p:spPr>
        <p:txBody>
          <a:bodyPr wrap="square">
            <a:spAutoFit/>
          </a:bodyPr>
          <a:lstStyle/>
          <a:p>
            <a:pPr algn="l">
              <a:defRPr sz="1200" b="0" i="0">
                <a:solidFill>
                  <a:srgbClr val="8F95A3"/>
                </a:solidFill>
                <a:latin typeface="Calibri"/>
              </a:defRPr>
            </a:pPr>
            <a:r>
              <a:t>Profitable Year</a:t>
            </a:r>
          </a:p>
        </p:txBody>
      </p:sp>
      <p:sp>
        <p:nvSpPr>
          <p:cNvPr id="7" name="TextBox 6"/>
          <p:cNvSpPr txBox="1"/>
          <p:nvPr/>
        </p:nvSpPr>
        <p:spPr>
          <a:xfrm>
            <a:off x="1097280" y="3291840"/>
            <a:ext cx="9966960" cy="365760"/>
          </a:xfrm>
          <a:prstGeom prst="rect">
            <a:avLst/>
          </a:prstGeom>
          <a:noFill/>
        </p:spPr>
        <p:txBody>
          <a:bodyPr wrap="square">
            <a:spAutoFit/>
          </a:bodyPr>
          <a:lstStyle/>
          <a:p>
            <a:pPr algn="l">
              <a:defRPr sz="1400" b="0" i="0">
                <a:solidFill>
                  <a:srgbClr val="E2E2EA"/>
                </a:solidFill>
                <a:latin typeface="Calibri"/>
              </a:defRPr>
            </a:pPr>
            <a:r>
              <a:t>by Gaming Division</a:t>
            </a:r>
          </a:p>
        </p:txBody>
      </p:sp>
      <p:sp>
        <p:nvSpPr>
          <p:cNvPr id="8" name="TextBox 7"/>
          <p:cNvSpPr txBox="1"/>
          <p:nvPr/>
        </p:nvSpPr>
        <p:spPr>
          <a:xfrm>
            <a:off x="1097280" y="3840480"/>
            <a:ext cx="9966960" cy="457200"/>
          </a:xfrm>
          <a:prstGeom prst="rect">
            <a:avLst/>
          </a:prstGeom>
          <a:noFill/>
        </p:spPr>
        <p:txBody>
          <a:bodyPr wrap="square">
            <a:spAutoFit/>
          </a:bodyPr>
          <a:lstStyle/>
          <a:p>
            <a:pPr algn="l">
              <a:defRPr sz="1800" b="1" i="0">
                <a:solidFill>
                  <a:srgbClr val="FFFFFF"/>
                </a:solidFill>
                <a:latin typeface="Calibri"/>
              </a:defRPr>
            </a:pPr>
            <a:r>
              <a:t>Gaming division reaches profitability</a:t>
            </a:r>
          </a:p>
        </p:txBody>
      </p:sp>
      <p:sp>
        <p:nvSpPr>
          <p:cNvPr id="9" name="TextBox 8"/>
          <p:cNvSpPr txBox="1"/>
          <p:nvPr/>
        </p:nvSpPr>
        <p:spPr>
          <a:xfrm>
            <a:off x="1097280" y="4389120"/>
            <a:ext cx="9966960" cy="914400"/>
          </a:xfrm>
          <a:prstGeom prst="rect">
            <a:avLst/>
          </a:prstGeom>
          <a:noFill/>
        </p:spPr>
        <p:txBody>
          <a:bodyPr wrap="square">
            <a:spAutoFit/>
          </a:bodyPr>
          <a:lstStyle/>
          <a:p>
            <a:pPr algn="l">
              <a:defRPr sz="1400" b="0" i="0">
                <a:solidFill>
                  <a:srgbClr val="E2E2EA"/>
                </a:solidFill>
                <a:latin typeface="Calibri"/>
              </a:defRPr>
            </a:pPr>
            <a:r>
              <a:t>Our gaming portfolio has turned the corner, with strong retention rates and optimized monetization strategies driving sustainable profits.</a:t>
            </a:r>
          </a:p>
        </p:txBody>
      </p:sp>
      <p:sp>
        <p:nvSpPr>
          <p:cNvPr id="10" name="TextBox 9"/>
          <p:cNvSpPr txBox="1"/>
          <p:nvPr/>
        </p:nvSpPr>
        <p:spPr>
          <a:xfrm>
            <a:off x="1097280" y="5486400"/>
            <a:ext cx="9966960" cy="457200"/>
          </a:xfrm>
          <a:prstGeom prst="rect">
            <a:avLst/>
          </a:prstGeom>
          <a:noFill/>
        </p:spPr>
        <p:txBody>
          <a:bodyPr wrap="square">
            <a:spAutoFit/>
          </a:bodyPr>
          <a:lstStyle/>
          <a:p>
            <a:pPr algn="l">
              <a:defRPr sz="1300" b="0" i="1">
                <a:solidFill>
                  <a:srgbClr val="8F95A3"/>
                </a:solidFill>
                <a:latin typeface="Calibri"/>
              </a:defRPr>
            </a:pPr>
            <a:r>
              <a:t>💬 "Long-term investments in gaming are now delivering results"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EA580C"/>
                </a:solidFill>
                <a:latin typeface="Calibri"/>
              </a:defRPr>
            </a:pPr>
            <a:r>
              <a:t>📊  WIN</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EA580C"/>
                </a:solidFill>
                <a:latin typeface="Calibri"/>
              </a:defRPr>
            </a:pPr>
            <a:r>
              <a:t>Crossword ROAS Success</a:t>
            </a:r>
          </a:p>
        </p:txBody>
      </p:sp>
      <p:sp>
        <p:nvSpPr>
          <p:cNvPr id="5" name="TextBox 4"/>
          <p:cNvSpPr txBox="1"/>
          <p:nvPr/>
        </p:nvSpPr>
        <p:spPr>
          <a:xfrm>
            <a:off x="1097280" y="2103120"/>
            <a:ext cx="4572000" cy="822960"/>
          </a:xfrm>
          <a:prstGeom prst="rect">
            <a:avLst/>
          </a:prstGeom>
          <a:noFill/>
        </p:spPr>
        <p:txBody>
          <a:bodyPr wrap="square">
            <a:spAutoFit/>
          </a:bodyPr>
          <a:lstStyle/>
          <a:p>
            <a:pPr algn="l">
              <a:defRPr sz="4800" b="1" i="0">
                <a:solidFill>
                  <a:srgbClr val="EA580C"/>
                </a:solidFill>
                <a:latin typeface="Calibri"/>
              </a:defRPr>
            </a:pPr>
            <a:r>
              <a:t>200%+</a:t>
            </a:r>
          </a:p>
        </p:txBody>
      </p:sp>
      <p:sp>
        <p:nvSpPr>
          <p:cNvPr id="6" name="TextBox 5"/>
          <p:cNvSpPr txBox="1"/>
          <p:nvPr/>
        </p:nvSpPr>
        <p:spPr>
          <a:xfrm>
            <a:off x="1097280" y="2834640"/>
            <a:ext cx="4572000" cy="365760"/>
          </a:xfrm>
          <a:prstGeom prst="rect">
            <a:avLst/>
          </a:prstGeom>
          <a:noFill/>
        </p:spPr>
        <p:txBody>
          <a:bodyPr wrap="square">
            <a:spAutoFit/>
          </a:bodyPr>
          <a:lstStyle/>
          <a:p>
            <a:pPr algn="l">
              <a:defRPr sz="1200" b="0" i="0">
                <a:solidFill>
                  <a:srgbClr val="8F95A3"/>
                </a:solidFill>
                <a:latin typeface="Calibri"/>
              </a:defRPr>
            </a:pPr>
            <a:r>
              <a:t>ROAS Exceeded</a:t>
            </a:r>
          </a:p>
        </p:txBody>
      </p:sp>
      <p:sp>
        <p:nvSpPr>
          <p:cNvPr id="7" name="TextBox 6"/>
          <p:cNvSpPr txBox="1"/>
          <p:nvPr/>
        </p:nvSpPr>
        <p:spPr>
          <a:xfrm>
            <a:off x="1097280" y="3291840"/>
            <a:ext cx="9966960" cy="365760"/>
          </a:xfrm>
          <a:prstGeom prst="rect">
            <a:avLst/>
          </a:prstGeom>
          <a:noFill/>
        </p:spPr>
        <p:txBody>
          <a:bodyPr wrap="square">
            <a:spAutoFit/>
          </a:bodyPr>
          <a:lstStyle/>
          <a:p>
            <a:pPr algn="l">
              <a:defRPr sz="1400" b="0" i="0">
                <a:solidFill>
                  <a:srgbClr val="E2E2EA"/>
                </a:solidFill>
                <a:latin typeface="Calibri"/>
              </a:defRPr>
            </a:pPr>
            <a:r>
              <a:t>by Marketing Team</a:t>
            </a:r>
          </a:p>
        </p:txBody>
      </p:sp>
      <p:sp>
        <p:nvSpPr>
          <p:cNvPr id="8" name="TextBox 7"/>
          <p:cNvSpPr txBox="1"/>
          <p:nvPr/>
        </p:nvSpPr>
        <p:spPr>
          <a:xfrm>
            <a:off x="1097280" y="3840480"/>
            <a:ext cx="9966960" cy="457200"/>
          </a:xfrm>
          <a:prstGeom prst="rect">
            <a:avLst/>
          </a:prstGeom>
          <a:noFill/>
        </p:spPr>
        <p:txBody>
          <a:bodyPr wrap="square">
            <a:spAutoFit/>
          </a:bodyPr>
          <a:lstStyle/>
          <a:p>
            <a:pPr algn="l">
              <a:defRPr sz="1800" b="1" i="0">
                <a:solidFill>
                  <a:srgbClr val="FFFFFF"/>
                </a:solidFill>
                <a:latin typeface="Calibri"/>
              </a:defRPr>
            </a:pPr>
            <a:r>
              <a:t>Crossword campaigns deliver exceptional returns</a:t>
            </a:r>
          </a:p>
        </p:txBody>
      </p:sp>
      <p:sp>
        <p:nvSpPr>
          <p:cNvPr id="9" name="TextBox 8"/>
          <p:cNvSpPr txBox="1"/>
          <p:nvPr/>
        </p:nvSpPr>
        <p:spPr>
          <a:xfrm>
            <a:off x="1097280" y="4389120"/>
            <a:ext cx="9966960" cy="914400"/>
          </a:xfrm>
          <a:prstGeom prst="rect">
            <a:avLst/>
          </a:prstGeom>
          <a:noFill/>
        </p:spPr>
        <p:txBody>
          <a:bodyPr wrap="square">
            <a:spAutoFit/>
          </a:bodyPr>
          <a:lstStyle/>
          <a:p>
            <a:pPr algn="l">
              <a:defRPr sz="1400" b="0" i="0">
                <a:solidFill>
                  <a:srgbClr val="E2E2EA"/>
                </a:solidFill>
                <a:latin typeface="Calibri"/>
              </a:defRPr>
            </a:pPr>
            <a:r>
              <a:t>Our crossword game marketing has achieved outstanding ROAS above 200%, proving our user acquisition strategies are highly effective.</a:t>
            </a:r>
          </a:p>
        </p:txBody>
      </p:sp>
      <p:sp>
        <p:nvSpPr>
          <p:cNvPr id="10" name="TextBox 9"/>
          <p:cNvSpPr txBox="1"/>
          <p:nvPr/>
        </p:nvSpPr>
        <p:spPr>
          <a:xfrm>
            <a:off x="1097280" y="5486400"/>
            <a:ext cx="9966960" cy="457200"/>
          </a:xfrm>
          <a:prstGeom prst="rect">
            <a:avLst/>
          </a:prstGeom>
          <a:noFill/>
        </p:spPr>
        <p:txBody>
          <a:bodyPr wrap="square">
            <a:spAutoFit/>
          </a:bodyPr>
          <a:lstStyle/>
          <a:p>
            <a:pPr algn="l">
              <a:defRPr sz="1300" b="0" i="1">
                <a:solidFill>
                  <a:srgbClr val="8F95A3"/>
                </a:solidFill>
                <a:latin typeface="Calibri"/>
              </a:defRPr>
            </a:pPr>
            <a:r>
              <a:t>💬 "Data-driven marketing is generating impressive returns on investment"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8B5CF6"/>
                </a:solidFill>
                <a:latin typeface="Calibri"/>
              </a:defRPr>
            </a:pPr>
            <a:r>
              <a:t>🧘‍♀️  WEEKLY RITUAL</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8B5CF6"/>
                </a:solidFill>
                <a:latin typeface="Calibri"/>
              </a:defRPr>
            </a:pPr>
            <a:r>
              <a:t>Daily Wellness</a:t>
            </a:r>
          </a:p>
        </p:txBody>
      </p:sp>
      <p:sp>
        <p:nvSpPr>
          <p:cNvPr id="5" name="TextBox 4"/>
          <p:cNvSpPr txBox="1"/>
          <p:nvPr/>
        </p:nvSpPr>
        <p:spPr>
          <a:xfrm>
            <a:off x="1097280" y="2103120"/>
            <a:ext cx="9966960" cy="457200"/>
          </a:xfrm>
          <a:prstGeom prst="rect">
            <a:avLst/>
          </a:prstGeom>
          <a:noFill/>
        </p:spPr>
        <p:txBody>
          <a:bodyPr wrap="square">
            <a:spAutoFit/>
          </a:bodyPr>
          <a:lstStyle/>
          <a:p>
            <a:pPr algn="l">
              <a:defRPr sz="1800" b="1" i="0">
                <a:solidFill>
                  <a:srgbClr val="FFFFFF"/>
                </a:solidFill>
                <a:latin typeface="Calibri"/>
              </a:defRPr>
            </a:pPr>
            <a:r>
              <a:t>Daily yoga brings balance to our workday</a:t>
            </a:r>
          </a:p>
        </p:txBody>
      </p:sp>
      <p:sp>
        <p:nvSpPr>
          <p:cNvPr id="6" name="TextBox 5"/>
          <p:cNvSpPr txBox="1"/>
          <p:nvPr/>
        </p:nvSpPr>
        <p:spPr>
          <a:xfrm>
            <a:off x="1371600" y="2926080"/>
            <a:ext cx="9418320" cy="548640"/>
          </a:xfrm>
          <a:prstGeom prst="rect">
            <a:avLst/>
          </a:prstGeom>
          <a:noFill/>
        </p:spPr>
        <p:txBody>
          <a:bodyPr wrap="square">
            <a:spAutoFit/>
          </a:bodyPr>
          <a:lstStyle/>
          <a:p>
            <a:pPr algn="l">
              <a:defRPr sz="1400" b="0" i="0">
                <a:solidFill>
                  <a:srgbClr val="E2E2EA"/>
                </a:solidFill>
                <a:latin typeface="Calibri"/>
              </a:defRPr>
            </a:pPr>
            <a:r>
              <a:t>How has yoga helped you?</a:t>
            </a:r>
          </a:p>
        </p:txBody>
      </p:sp>
      <p:sp>
        <p:nvSpPr>
          <p:cNvPr id="7" name="TextBox 6"/>
          <p:cNvSpPr txBox="1"/>
          <p:nvPr/>
        </p:nvSpPr>
        <p:spPr>
          <a:xfrm>
            <a:off x="1371600" y="3657600"/>
            <a:ext cx="9418320" cy="548640"/>
          </a:xfrm>
          <a:prstGeom prst="rect">
            <a:avLst/>
          </a:prstGeom>
          <a:noFill/>
        </p:spPr>
        <p:txBody>
          <a:bodyPr wrap="square">
            <a:spAutoFit/>
          </a:bodyPr>
          <a:lstStyle/>
          <a:p>
            <a:pPr algn="l">
              <a:defRPr sz="1400" b="0" i="0">
                <a:solidFill>
                  <a:srgbClr val="E2E2EA"/>
                </a:solidFill>
                <a:latin typeface="Calibri"/>
              </a:defRPr>
            </a:pPr>
            <a:r>
              <a:t>What wellness practices work for you?</a:t>
            </a:r>
          </a:p>
        </p:txBody>
      </p:sp>
      <p:sp>
        <p:nvSpPr>
          <p:cNvPr id="8" name="TextBox 7"/>
          <p:cNvSpPr txBox="1"/>
          <p:nvPr/>
        </p:nvSpPr>
        <p:spPr>
          <a:xfrm>
            <a:off x="1097280" y="4754880"/>
            <a:ext cx="9966960" cy="731520"/>
          </a:xfrm>
          <a:prstGeom prst="rect">
            <a:avLst/>
          </a:prstGeom>
          <a:noFill/>
        </p:spPr>
        <p:txBody>
          <a:bodyPr wrap="square">
            <a:spAutoFit/>
          </a:bodyPr>
          <a:lstStyle/>
          <a:p>
            <a:pPr algn="l">
              <a:defRPr sz="1500" b="0" i="1">
                <a:solidFill>
                  <a:srgbClr val="E2E2EA"/>
                </a:solidFill>
                <a:latin typeface="Calibri"/>
              </a:defRPr>
            </a:pPr>
            <a:r>
              <a:t>We care for our people's wellbeing</a:t>
            </a:r>
          </a:p>
        </p:txBody>
      </p:sp>
      <p:sp>
        <p:nvSpPr>
          <p:cNvPr id="9" name="TextBox 8"/>
          <p:cNvSpPr txBox="1"/>
          <p:nvPr/>
        </p:nvSpPr>
        <p:spPr>
          <a:xfrm>
            <a:off x="1097280" y="5760720"/>
            <a:ext cx="9966960" cy="274320"/>
          </a:xfrm>
          <a:prstGeom prst="rect">
            <a:avLst/>
          </a:prstGeom>
          <a:noFill/>
        </p:spPr>
        <p:txBody>
          <a:bodyPr wrap="square">
            <a:spAutoFit/>
          </a:bodyPr>
          <a:lstStyle/>
          <a:p>
            <a:pPr algn="l">
              <a:defRPr sz="1100" b="0" i="0">
                <a:solidFill>
                  <a:srgbClr val="5C6270"/>
                </a:solidFill>
                <a:latin typeface="Calibri"/>
              </a:defRPr>
            </a:pPr>
            <a:r>
              <a:t>Office &amp; Online at 13:10 CET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8080C"/>
        </a:solidFill>
        <a:effectLst/>
      </p:bgPr>
    </p:bg>
    <p:spTree>
      <p:nvGrpSpPr>
        <p:cNvPr id="1" name=""/>
        <p:cNvGrpSpPr/>
        <p:nvPr/>
      </p:nvGrpSpPr>
      <p:grpSpPr/>
      <p:sp>
        <p:nvSpPr>
          <p:cNvPr id="2" name="Rectangle 1"/>
          <p:cNvSpPr/>
          <p:nvPr/>
        </p:nvSpPr>
        <p:spPr>
          <a:xfrm>
            <a:off x="0" y="365760"/>
            <a:ext cx="12191695"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731520"/>
            <a:ext cx="3657600" cy="365760"/>
          </a:xfrm>
          <a:prstGeom prst="rect">
            <a:avLst/>
          </a:prstGeom>
          <a:noFill/>
        </p:spPr>
        <p:txBody>
          <a:bodyPr wrap="none">
            <a:spAutoFit/>
          </a:bodyPr>
          <a:lstStyle/>
          <a:p>
            <a:pPr algn="l">
              <a:defRPr sz="1000" b="1">
                <a:solidFill>
                  <a:srgbClr val="0891B2"/>
                </a:solidFill>
                <a:latin typeface="Calibri"/>
              </a:defRPr>
            </a:pPr>
            <a:r>
              <a:t>📚  EVENT</a:t>
            </a:r>
          </a:p>
        </p:txBody>
      </p:sp>
      <p:sp>
        <p:nvSpPr>
          <p:cNvPr id="4" name="TextBox 3"/>
          <p:cNvSpPr txBox="1"/>
          <p:nvPr/>
        </p:nvSpPr>
        <p:spPr>
          <a:xfrm>
            <a:off x="1097280" y="1188720"/>
            <a:ext cx="9966960" cy="731520"/>
          </a:xfrm>
          <a:prstGeom prst="rect">
            <a:avLst/>
          </a:prstGeom>
          <a:noFill/>
        </p:spPr>
        <p:txBody>
          <a:bodyPr wrap="square">
            <a:spAutoFit/>
          </a:bodyPr>
          <a:lstStyle/>
          <a:p>
            <a:pPr algn="l">
              <a:defRPr sz="3200" b="1" i="0">
                <a:solidFill>
                  <a:srgbClr val="0891B2"/>
                </a:solidFill>
                <a:latin typeface="Calibri"/>
              </a:defRPr>
            </a:pPr>
            <a:r>
              <a:t>Book Club Growing</a:t>
            </a:r>
          </a:p>
        </p:txBody>
      </p:sp>
      <p:sp>
        <p:nvSpPr>
          <p:cNvPr id="5" name="TextBox 4"/>
          <p:cNvSpPr txBox="1"/>
          <p:nvPr/>
        </p:nvSpPr>
        <p:spPr>
          <a:xfrm>
            <a:off x="1097280" y="2103120"/>
            <a:ext cx="9966960" cy="548640"/>
          </a:xfrm>
          <a:prstGeom prst="rect">
            <a:avLst/>
          </a:prstGeom>
          <a:noFill/>
        </p:spPr>
        <p:txBody>
          <a:bodyPr wrap="square">
            <a:spAutoFit/>
          </a:bodyPr>
          <a:lstStyle/>
          <a:p>
            <a:pPr algn="l">
              <a:defRPr sz="2200" b="1" i="0">
                <a:solidFill>
                  <a:srgbClr val="FFFFFF"/>
                </a:solidFill>
                <a:latin typeface="Calibri"/>
              </a:defRPr>
            </a:pPr>
            <a:r>
              <a:t>Passionate Curiosity Book Club</a:t>
            </a:r>
          </a:p>
        </p:txBody>
      </p:sp>
      <p:sp>
        <p:nvSpPr>
          <p:cNvPr id="6" name="TextBox 5"/>
          <p:cNvSpPr txBox="1"/>
          <p:nvPr/>
        </p:nvSpPr>
        <p:spPr>
          <a:xfrm>
            <a:off x="1097280" y="2743200"/>
            <a:ext cx="9966960" cy="365760"/>
          </a:xfrm>
          <a:prstGeom prst="rect">
            <a:avLst/>
          </a:prstGeom>
          <a:noFill/>
        </p:spPr>
        <p:txBody>
          <a:bodyPr wrap="square">
            <a:spAutoFit/>
          </a:bodyPr>
          <a:lstStyle/>
          <a:p>
            <a:pPr algn="l">
              <a:defRPr sz="1400" b="1" i="0">
                <a:solidFill>
                  <a:srgbClr val="0891B2"/>
                </a:solidFill>
                <a:latin typeface="Calibri"/>
              </a:defRPr>
            </a:pPr>
            <a:r>
              <a:t>Ongoing</a:t>
            </a:r>
          </a:p>
        </p:txBody>
      </p:sp>
      <p:sp>
        <p:nvSpPr>
          <p:cNvPr id="7" name="TextBox 6"/>
          <p:cNvSpPr txBox="1"/>
          <p:nvPr/>
        </p:nvSpPr>
        <p:spPr>
          <a:xfrm>
            <a:off x="1097280" y="3291840"/>
            <a:ext cx="9966960" cy="1371600"/>
          </a:xfrm>
          <a:prstGeom prst="rect">
            <a:avLst/>
          </a:prstGeom>
          <a:noFill/>
        </p:spPr>
        <p:txBody>
          <a:bodyPr wrap="square">
            <a:spAutoFit/>
          </a:bodyPr>
          <a:lstStyle/>
          <a:p>
            <a:pPr algn="l">
              <a:defRPr sz="1500" b="0" i="0">
                <a:solidFill>
                  <a:srgbClr val="E2E2EA"/>
                </a:solidFill>
                <a:latin typeface="Calibri"/>
              </a:defRPr>
            </a:pPr>
            <a:r>
              <a:t>Our book club has grown to 140+ participants, fostering a culture of continuous learning and intellectual curiosity across the company.</a:t>
            </a:r>
          </a:p>
        </p:txBody>
      </p:sp>
      <p:sp>
        <p:nvSpPr>
          <p:cNvPr id="8" name="TextBox 7"/>
          <p:cNvSpPr txBox="1"/>
          <p:nvPr/>
        </p:nvSpPr>
        <p:spPr>
          <a:xfrm>
            <a:off x="1097280" y="5029200"/>
            <a:ext cx="9966960" cy="365760"/>
          </a:xfrm>
          <a:prstGeom prst="rect">
            <a:avLst/>
          </a:prstGeom>
          <a:noFill/>
        </p:spPr>
        <p:txBody>
          <a:bodyPr wrap="square">
            <a:spAutoFit/>
          </a:bodyPr>
          <a:lstStyle/>
          <a:p>
            <a:pPr algn="l">
              <a:defRPr sz="1300" b="0" i="0">
                <a:solidFill>
                  <a:srgbClr val="8F95A3"/>
                </a:solidFill>
                <a:latin typeface="Calibri"/>
              </a:defRPr>
            </a:pPr>
            <a:r>
              <a:t>Organized by Learning &amp; Development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