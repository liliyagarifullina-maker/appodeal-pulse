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TextBox 1"/>
          <p:cNvSpPr txBox="1"/>
          <p:nvPr/>
        </p:nvSpPr>
        <p:spPr>
          <a:xfrm>
            <a:off x="1097280" y="1828800"/>
            <a:ext cx="9966960" cy="548640"/>
          </a:xfrm>
          <a:prstGeom prst="rect">
            <a:avLst/>
          </a:prstGeom>
          <a:noFill/>
        </p:spPr>
        <p:txBody>
          <a:bodyPr wrap="square">
            <a:spAutoFit/>
          </a:bodyPr>
          <a:lstStyle/>
          <a:p>
            <a:pPr algn="ctr">
              <a:defRPr sz="1800" b="1" i="0">
                <a:solidFill>
                  <a:srgbClr val="5C6270"/>
                </a:solidFill>
                <a:latin typeface="Calibri"/>
              </a:defRPr>
            </a:pPr>
            <a:r>
              <a:t>APPODEAL</a:t>
            </a:r>
          </a:p>
        </p:txBody>
      </p:sp>
      <p:sp>
        <p:nvSpPr>
          <p:cNvPr id="3" name="TextBox 2"/>
          <p:cNvSpPr txBox="1"/>
          <p:nvPr/>
        </p:nvSpPr>
        <p:spPr>
          <a:xfrm>
            <a:off x="1097280" y="2468880"/>
            <a:ext cx="9966960" cy="1097280"/>
          </a:xfrm>
          <a:prstGeom prst="rect">
            <a:avLst/>
          </a:prstGeom>
          <a:noFill/>
        </p:spPr>
        <p:txBody>
          <a:bodyPr wrap="square">
            <a:spAutoFit/>
          </a:bodyPr>
          <a:lstStyle/>
          <a:p>
            <a:pPr algn="ctr">
              <a:defRPr sz="5600" b="1" i="0">
                <a:solidFill>
                  <a:srgbClr val="FFFFFF"/>
                </a:solidFill>
                <a:latin typeface="Calibri"/>
              </a:defRPr>
            </a:pPr>
            <a:r>
              <a:t>PULSE</a:t>
            </a:r>
          </a:p>
        </p:txBody>
      </p:sp>
      <p:sp>
        <p:nvSpPr>
          <p:cNvPr id="4" name="TextBox 3"/>
          <p:cNvSpPr txBox="1"/>
          <p:nvPr/>
        </p:nvSpPr>
        <p:spPr>
          <a:xfrm>
            <a:off x="1097280" y="3840480"/>
            <a:ext cx="9966960" cy="457200"/>
          </a:xfrm>
          <a:prstGeom prst="rect">
            <a:avLst/>
          </a:prstGeom>
          <a:noFill/>
        </p:spPr>
        <p:txBody>
          <a:bodyPr wrap="square">
            <a:spAutoFit/>
          </a:bodyPr>
          <a:lstStyle/>
          <a:p>
            <a:pPr algn="ctr">
              <a:defRPr sz="1600" b="0" i="0">
                <a:solidFill>
                  <a:srgbClr val="8F95A3"/>
                </a:solidFill>
                <a:latin typeface="Calibri"/>
              </a:defRPr>
            </a:pPr>
            <a:r>
              <a:t>Monday, March 16, 2026</a:t>
            </a:r>
          </a:p>
        </p:txBody>
      </p:sp>
      <p:sp>
        <p:nvSpPr>
          <p:cNvPr id="5" name="Rectangle 4"/>
          <p:cNvSpPr/>
          <p:nvPr/>
        </p:nvSpPr>
        <p:spPr>
          <a:xfrm>
            <a:off x="5029200" y="4572000"/>
            <a:ext cx="2103120" cy="3657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F59E0B"/>
                </a:solidFill>
                <a:latin typeface="Calibri"/>
              </a:defRPr>
            </a:pPr>
            <a:r>
              <a:t>🎂  CELEBRATION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F59E0B"/>
                </a:solidFill>
                <a:latin typeface="Calibri"/>
              </a:defRPr>
            </a:pPr>
            <a:r>
              <a:t>Birthday Celebration</a:t>
            </a:r>
          </a:p>
        </p:txBody>
      </p:sp>
      <p:sp>
        <p:nvSpPr>
          <p:cNvPr id="5" name="TextBox 4"/>
          <p:cNvSpPr txBox="1"/>
          <p:nvPr/>
        </p:nvSpPr>
        <p:spPr>
          <a:xfrm>
            <a:off x="1097280" y="2103120"/>
            <a:ext cx="9966960" cy="640080"/>
          </a:xfrm>
          <a:prstGeom prst="rect">
            <a:avLst/>
          </a:prstGeom>
          <a:noFill/>
        </p:spPr>
        <p:txBody>
          <a:bodyPr wrap="square">
            <a:spAutoFit/>
          </a:bodyPr>
          <a:lstStyle/>
          <a:p>
            <a:pPr algn="l">
              <a:defRPr sz="2800" b="1" i="0">
                <a:solidFill>
                  <a:srgbClr val="FFFFFF"/>
                </a:solidFill>
                <a:latin typeface="Calibri"/>
              </a:defRPr>
            </a:pPr>
            <a:r>
              <a:t>Armaan Pandher</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0" i="0">
                <a:solidFill>
                  <a:srgbClr val="8F95A3"/>
                </a:solidFill>
                <a:latin typeface="Calibri"/>
              </a:defRPr>
            </a:pPr>
            <a:r>
              <a:t>Happy Birthday!</a:t>
            </a:r>
          </a:p>
        </p:txBody>
      </p:sp>
      <p:sp>
        <p:nvSpPr>
          <p:cNvPr id="7" name="TextBox 6"/>
          <p:cNvSpPr txBox="1"/>
          <p:nvPr/>
        </p:nvSpPr>
        <p:spPr>
          <a:xfrm>
            <a:off x="1097280" y="3291840"/>
            <a:ext cx="9966960" cy="914400"/>
          </a:xfrm>
          <a:prstGeom prst="rect">
            <a:avLst/>
          </a:prstGeom>
          <a:noFill/>
        </p:spPr>
        <p:txBody>
          <a:bodyPr wrap="square">
            <a:spAutoFit/>
          </a:bodyPr>
          <a:lstStyle/>
          <a:p>
            <a:pPr algn="l">
              <a:defRPr sz="1600" b="0" i="0">
                <a:solidFill>
                  <a:srgbClr val="E2E2EA"/>
                </a:solidFill>
                <a:latin typeface="Calibri"/>
              </a:defRPr>
            </a:pPr>
            <a:r>
              <a:t>Thank you all for the wonderful birthday wishes! Your support means the world to me. Here's to another amazing year at Appodeal!</a:t>
            </a:r>
          </a:p>
        </p:txBody>
      </p:sp>
      <p:sp>
        <p:nvSpPr>
          <p:cNvPr id="8" name="TextBox 7"/>
          <p:cNvSpPr txBox="1"/>
          <p:nvPr/>
        </p:nvSpPr>
        <p:spPr>
          <a:xfrm>
            <a:off x="1097280" y="4572000"/>
            <a:ext cx="9966960" cy="457200"/>
          </a:xfrm>
          <a:prstGeom prst="rect">
            <a:avLst/>
          </a:prstGeom>
          <a:noFill/>
        </p:spPr>
        <p:txBody>
          <a:bodyPr wrap="square">
            <a:spAutoFit/>
          </a:bodyPr>
          <a:lstStyle/>
          <a:p>
            <a:pPr algn="l">
              <a:defRPr sz="1400" b="0" i="1">
                <a:solidFill>
                  <a:srgbClr val="F59E0B"/>
                </a:solidFill>
                <a:latin typeface="Calibri"/>
              </a:defRPr>
            </a:pPr>
            <a:r>
              <a:t>Product Team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EC4899"/>
                </a:solidFill>
                <a:latin typeface="Calibri"/>
              </a:defRPr>
            </a:pPr>
            <a:r>
              <a:t>🎈  CELEBRATION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EC4899"/>
                </a:solidFill>
                <a:latin typeface="Calibri"/>
              </a:defRPr>
            </a:pPr>
            <a:r>
              <a:t>Birthday Celebration</a:t>
            </a:r>
          </a:p>
        </p:txBody>
      </p:sp>
      <p:sp>
        <p:nvSpPr>
          <p:cNvPr id="5" name="TextBox 4"/>
          <p:cNvSpPr txBox="1"/>
          <p:nvPr/>
        </p:nvSpPr>
        <p:spPr>
          <a:xfrm>
            <a:off x="1097280" y="2103120"/>
            <a:ext cx="9966960" cy="640080"/>
          </a:xfrm>
          <a:prstGeom prst="rect">
            <a:avLst/>
          </a:prstGeom>
          <a:noFill/>
        </p:spPr>
        <p:txBody>
          <a:bodyPr wrap="square">
            <a:spAutoFit/>
          </a:bodyPr>
          <a:lstStyle/>
          <a:p>
            <a:pPr algn="l">
              <a:defRPr sz="2800" b="1" i="0">
                <a:solidFill>
                  <a:srgbClr val="FFFFFF"/>
                </a:solidFill>
                <a:latin typeface="Calibri"/>
              </a:defRPr>
            </a:pPr>
            <a:r>
              <a:t>Anna Kolyada</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0" i="0">
                <a:solidFill>
                  <a:srgbClr val="8F95A3"/>
                </a:solidFill>
                <a:latin typeface="Calibri"/>
              </a:defRPr>
            </a:pPr>
            <a:r>
              <a:t>Happy Birthday!</a:t>
            </a:r>
          </a:p>
        </p:txBody>
      </p:sp>
      <p:sp>
        <p:nvSpPr>
          <p:cNvPr id="7" name="TextBox 6"/>
          <p:cNvSpPr txBox="1"/>
          <p:nvPr/>
        </p:nvSpPr>
        <p:spPr>
          <a:xfrm>
            <a:off x="1097280" y="3291840"/>
            <a:ext cx="9966960" cy="914400"/>
          </a:xfrm>
          <a:prstGeom prst="rect">
            <a:avLst/>
          </a:prstGeom>
          <a:noFill/>
        </p:spPr>
        <p:txBody>
          <a:bodyPr wrap="square">
            <a:spAutoFit/>
          </a:bodyPr>
          <a:lstStyle/>
          <a:p>
            <a:pPr algn="l">
              <a:defRPr sz="1600" b="0" i="0">
                <a:solidFill>
                  <a:srgbClr val="E2E2EA"/>
                </a:solidFill>
                <a:latin typeface="Calibri"/>
              </a:defRPr>
            </a:pPr>
            <a:r>
              <a:t>Grateful for all the birthday love from the team! Looking forward to what this new year brings.</a:t>
            </a:r>
          </a:p>
        </p:txBody>
      </p:sp>
      <p:sp>
        <p:nvSpPr>
          <p:cNvPr id="8" name="TextBox 7"/>
          <p:cNvSpPr txBox="1"/>
          <p:nvPr/>
        </p:nvSpPr>
        <p:spPr>
          <a:xfrm>
            <a:off x="1097280" y="4572000"/>
            <a:ext cx="9966960" cy="457200"/>
          </a:xfrm>
          <a:prstGeom prst="rect">
            <a:avLst/>
          </a:prstGeom>
          <a:noFill/>
        </p:spPr>
        <p:txBody>
          <a:bodyPr wrap="square">
            <a:spAutoFit/>
          </a:bodyPr>
          <a:lstStyle/>
          <a:p>
            <a:pPr algn="l">
              <a:defRPr sz="1400" b="0" i="1">
                <a:solidFill>
                  <a:srgbClr val="EC4899"/>
                </a:solidFill>
                <a:latin typeface="Calibri"/>
              </a:defRPr>
            </a:pPr>
            <a:r>
              <a:t>Operations Team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8B5CF6"/>
                </a:solidFill>
                <a:latin typeface="Calibri"/>
              </a:defRPr>
            </a:pPr>
            <a:r>
              <a:t>🎉  CELEBRATION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8B5CF6"/>
                </a:solidFill>
                <a:latin typeface="Calibri"/>
              </a:defRPr>
            </a:pPr>
            <a:r>
              <a:t>Birthday Celebration</a:t>
            </a:r>
          </a:p>
        </p:txBody>
      </p:sp>
      <p:sp>
        <p:nvSpPr>
          <p:cNvPr id="5" name="TextBox 4"/>
          <p:cNvSpPr txBox="1"/>
          <p:nvPr/>
        </p:nvSpPr>
        <p:spPr>
          <a:xfrm>
            <a:off x="1097280" y="2103120"/>
            <a:ext cx="9966960" cy="640080"/>
          </a:xfrm>
          <a:prstGeom prst="rect">
            <a:avLst/>
          </a:prstGeom>
          <a:noFill/>
        </p:spPr>
        <p:txBody>
          <a:bodyPr wrap="square">
            <a:spAutoFit/>
          </a:bodyPr>
          <a:lstStyle/>
          <a:p>
            <a:pPr algn="l">
              <a:defRPr sz="2800" b="1" i="0">
                <a:solidFill>
                  <a:srgbClr val="FFFFFF"/>
                </a:solidFill>
                <a:latin typeface="Calibri"/>
              </a:defRPr>
            </a:pPr>
            <a:r>
              <a:t>Mikhail Ladutko</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0" i="0">
                <a:solidFill>
                  <a:srgbClr val="8F95A3"/>
                </a:solidFill>
                <a:latin typeface="Calibri"/>
              </a:defRPr>
            </a:pPr>
            <a:r>
              <a:t>Happy Birthday!</a:t>
            </a:r>
          </a:p>
        </p:txBody>
      </p:sp>
      <p:sp>
        <p:nvSpPr>
          <p:cNvPr id="7" name="TextBox 6"/>
          <p:cNvSpPr txBox="1"/>
          <p:nvPr/>
        </p:nvSpPr>
        <p:spPr>
          <a:xfrm>
            <a:off x="1097280" y="3291840"/>
            <a:ext cx="9966960" cy="914400"/>
          </a:xfrm>
          <a:prstGeom prst="rect">
            <a:avLst/>
          </a:prstGeom>
          <a:noFill/>
        </p:spPr>
        <p:txBody>
          <a:bodyPr wrap="square">
            <a:spAutoFit/>
          </a:bodyPr>
          <a:lstStyle/>
          <a:p>
            <a:pPr algn="l">
              <a:defRPr sz="1600" b="0" i="0">
                <a:solidFill>
                  <a:srgbClr val="E2E2EA"/>
                </a:solidFill>
                <a:latin typeface="Calibri"/>
              </a:defRPr>
            </a:pPr>
          </a:p>
        </p:txBody>
      </p:sp>
      <p:sp>
        <p:nvSpPr>
          <p:cNvPr id="8" name="TextBox 7"/>
          <p:cNvSpPr txBox="1"/>
          <p:nvPr/>
        </p:nvSpPr>
        <p:spPr>
          <a:xfrm>
            <a:off x="1097280" y="4572000"/>
            <a:ext cx="9966960" cy="457200"/>
          </a:xfrm>
          <a:prstGeom prst="rect">
            <a:avLst/>
          </a:prstGeom>
          <a:noFill/>
        </p:spPr>
        <p:txBody>
          <a:bodyPr wrap="square">
            <a:spAutoFit/>
          </a:bodyPr>
          <a:lstStyle/>
          <a:p>
            <a:pPr algn="l">
              <a:defRPr sz="1400" b="0" i="1">
                <a:solidFill>
                  <a:srgbClr val="8B5CF6"/>
                </a:solidFill>
                <a:latin typeface="Calibri"/>
              </a:defRPr>
            </a:pPr>
            <a:r>
              <a:t>Engineering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10B981"/>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10B981"/>
                </a:solidFill>
                <a:latin typeface="Calibri"/>
              </a:defRPr>
            </a:pPr>
            <a:r>
              <a:t>Innovation Mindset</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10B981"/>
                </a:solidFill>
                <a:latin typeface="Calibri"/>
              </a:defRPr>
            </a:pPr>
            <a:r>
              <a:t>Fast</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Progress</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All Teams</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Building Tools at Lightning Speed</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Non-engineering teams are creating useful tools incredibly quickly, showing we're learning fast and moving in the right direction. This innovation mindset across all departments is driving our rapid growth.</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"When everyone becomes a builder, magic happens"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DC2626"/>
                </a:solidFill>
                <a:latin typeface="Calibri"/>
              </a:defRPr>
            </a:pPr>
            <a:r>
              <a:t>🔒  EVENT</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DC2626"/>
                </a:solidFill>
                <a:latin typeface="Calibri"/>
              </a:defRPr>
            </a:pPr>
            <a:r>
              <a:t>Security &amp; Best Practices</a:t>
            </a:r>
          </a:p>
        </p:txBody>
      </p:sp>
      <p:sp>
        <p:nvSpPr>
          <p:cNvPr id="5" name="TextBox 4"/>
          <p:cNvSpPr txBox="1"/>
          <p:nvPr/>
        </p:nvSpPr>
        <p:spPr>
          <a:xfrm>
            <a:off x="1097280" y="2103120"/>
            <a:ext cx="9966960" cy="548640"/>
          </a:xfrm>
          <a:prstGeom prst="rect">
            <a:avLst/>
          </a:prstGeom>
          <a:noFill/>
        </p:spPr>
        <p:txBody>
          <a:bodyPr wrap="square">
            <a:spAutoFit/>
          </a:bodyPr>
          <a:lstStyle/>
          <a:p>
            <a:pPr algn="l">
              <a:defRPr sz="2200" b="1" i="0">
                <a:solidFill>
                  <a:srgbClr val="FFFFFF"/>
                </a:solidFill>
                <a:latin typeface="Calibri"/>
              </a:defRPr>
            </a:pPr>
            <a:r>
              <a:t>Engineering Standards Update</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1" i="0">
                <a:solidFill>
                  <a:srgbClr val="DC2626"/>
                </a:solidFill>
                <a:latin typeface="Calibri"/>
              </a:defRPr>
            </a:pPr>
            <a:r>
              <a:t>Now Active</a:t>
            </a:r>
          </a:p>
        </p:txBody>
      </p:sp>
      <p:sp>
        <p:nvSpPr>
          <p:cNvPr id="7" name="TextBox 6"/>
          <p:cNvSpPr txBox="1"/>
          <p:nvPr/>
        </p:nvSpPr>
        <p:spPr>
          <a:xfrm>
            <a:off x="1097280" y="3291840"/>
            <a:ext cx="9966960" cy="1371600"/>
          </a:xfrm>
          <a:prstGeom prst="rect">
            <a:avLst/>
          </a:prstGeom>
          <a:noFill/>
        </p:spPr>
        <p:txBody>
          <a:bodyPr wrap="square">
            <a:spAutoFit/>
          </a:bodyPr>
          <a:lstStyle/>
          <a:p>
            <a:pPr algn="l">
              <a:defRPr sz="1500" b="0" i="0">
                <a:solidFill>
                  <a:srgbClr val="E2E2EA"/>
                </a:solidFill>
                <a:latin typeface="Calibri"/>
              </a:defRPr>
            </a:pPr>
            <a:r>
              <a:t>As we scale rapidly, we're implementing proper engineering and security practices. All teams should migrate to managed deployments for better security and reliability.</a:t>
            </a:r>
          </a:p>
        </p:txBody>
      </p:sp>
      <p:sp>
        <p:nvSpPr>
          <p:cNvPr id="8" name="TextBox 7"/>
          <p:cNvSpPr txBox="1"/>
          <p:nvPr/>
        </p:nvSpPr>
        <p:spPr>
          <a:xfrm>
            <a:off x="1097280" y="5029200"/>
            <a:ext cx="9966960" cy="365760"/>
          </a:xfrm>
          <a:prstGeom prst="rect">
            <a:avLst/>
          </a:prstGeom>
          <a:noFill/>
        </p:spPr>
        <p:txBody>
          <a:bodyPr wrap="square">
            <a:spAutoFit/>
          </a:bodyPr>
          <a:lstStyle/>
          <a:p>
            <a:pPr algn="l">
              <a:defRPr sz="1300" b="0" i="0">
                <a:solidFill>
                  <a:srgbClr val="8F95A3"/>
                </a:solidFill>
                <a:latin typeface="Calibri"/>
              </a:defRPr>
            </a:pPr>
            <a:r>
              <a:t>Organized by Engineering Leadership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3B82F6"/>
                </a:solidFill>
                <a:latin typeface="Calibri"/>
              </a:defRPr>
            </a:pPr>
            <a:r>
              <a:t>💙  OFFICE LIFE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3B82F6"/>
                </a:solidFill>
                <a:latin typeface="Calibri"/>
              </a:defRPr>
            </a:pPr>
            <a:r>
              <a:t>Family First</a:t>
            </a:r>
          </a:p>
        </p:txBody>
      </p:sp>
      <p:sp>
        <p:nvSpPr>
          <p:cNvPr id="5" name="TextBox 4"/>
          <p:cNvSpPr txBox="1"/>
          <p:nvPr/>
        </p:nvSpPr>
        <p:spPr>
          <a:xfrm>
            <a:off x="1097280" y="2103120"/>
            <a:ext cx="9966960" cy="457200"/>
          </a:xfrm>
          <a:prstGeom prst="rect">
            <a:avLst/>
          </a:prstGeom>
          <a:noFill/>
        </p:spPr>
        <p:txBody>
          <a:bodyPr wrap="square">
            <a:spAutoFit/>
          </a:bodyPr>
          <a:lstStyle/>
          <a:p>
            <a:pPr algn="l">
              <a:defRPr sz="1800" b="1" i="0">
                <a:solidFill>
                  <a:srgbClr val="FFFFFF"/>
                </a:solidFill>
                <a:latin typeface="Calibri"/>
              </a:defRPr>
            </a:pPr>
            <a:r>
              <a:t>Supporting Our Team During Difficult Times</a:t>
            </a:r>
          </a:p>
        </p:txBody>
      </p:sp>
      <p:sp>
        <p:nvSpPr>
          <p:cNvPr id="6" name="TextBox 5"/>
          <p:cNvSpPr txBox="1"/>
          <p:nvPr/>
        </p:nvSpPr>
        <p:spPr>
          <a:xfrm>
            <a:off x="1371600" y="2743200"/>
            <a:ext cx="9692640" cy="1828800"/>
          </a:xfrm>
          <a:prstGeom prst="rect">
            <a:avLst/>
          </a:prstGeom>
          <a:noFill/>
        </p:spPr>
        <p:txBody>
          <a:bodyPr wrap="square">
            <a:spAutoFit/>
          </a:bodyPr>
          <a:lstStyle/>
          <a:p>
            <a:pPr algn="l">
              <a:defRPr sz="1500" b="0" i="1">
                <a:solidFill>
                  <a:srgbClr val="E2E2EA"/>
                </a:solidFill>
                <a:latin typeface="Calibri"/>
              </a:defRPr>
            </a:pPr>
            <a:r>
              <a:t>"Taking time off for a family emergency — the team has my back"</a:t>
            </a:r>
          </a:p>
        </p:txBody>
      </p:sp>
      <p:sp>
        <p:nvSpPr>
          <p:cNvPr id="7" name="TextBox 6"/>
          <p:cNvSpPr txBox="1"/>
          <p:nvPr/>
        </p:nvSpPr>
        <p:spPr>
          <a:xfrm>
            <a:off x="1097280" y="4754880"/>
            <a:ext cx="9966960" cy="365760"/>
          </a:xfrm>
          <a:prstGeom prst="rect">
            <a:avLst/>
          </a:prstGeom>
          <a:noFill/>
        </p:spPr>
        <p:txBody>
          <a:bodyPr wrap="square">
            <a:spAutoFit/>
          </a:bodyPr>
          <a:lstStyle/>
          <a:p>
            <a:pPr algn="l">
              <a:defRPr sz="1400" b="0" i="0">
                <a:solidFill>
                  <a:srgbClr val="8F95A3"/>
                </a:solidFill>
                <a:latin typeface="Calibri"/>
              </a:defRPr>
            </a:pPr>
            <a:r>
              <a:t>— Pavel Golubev</a:t>
            </a:r>
          </a:p>
        </p:txBody>
      </p:sp>
      <p:sp>
        <p:nvSpPr>
          <p:cNvPr id="8" name="TextBox 7"/>
          <p:cNvSpPr txBox="1"/>
          <p:nvPr/>
        </p:nvSpPr>
        <p:spPr>
          <a:xfrm>
            <a:off x="1097280" y="5212080"/>
            <a:ext cx="9966960" cy="365760"/>
          </a:xfrm>
          <a:prstGeom prst="rect">
            <a:avLst/>
          </a:prstGeom>
          <a:noFill/>
        </p:spPr>
        <p:txBody>
          <a:bodyPr wrap="square">
            <a:spAutoFit/>
          </a:bodyPr>
          <a:lstStyle/>
          <a:p>
            <a:pPr algn="l">
              <a:defRPr sz="1400" b="1" i="0">
                <a:solidFill>
                  <a:srgbClr val="3B82F6"/>
                </a:solidFill>
                <a:latin typeface="Calibri"/>
              </a:defRPr>
            </a:pPr>
            <a:r>
              <a:t>❤️ 39, 🙏 15, 🤍 5</a:t>
            </a:r>
          </a:p>
        </p:txBody>
      </p:sp>
      <p:sp>
        <p:nvSpPr>
          <p:cNvPr id="9" name="TextBox 8"/>
          <p:cNvSpPr txBox="1"/>
          <p:nvPr/>
        </p:nvSpPr>
        <p:spPr>
          <a:xfrm>
            <a:off x="1097280" y="5760720"/>
            <a:ext cx="9966960" cy="274320"/>
          </a:xfrm>
          <a:prstGeom prst="rect">
            <a:avLst/>
          </a:prstGeom>
          <a:noFill/>
        </p:spPr>
        <p:txBody>
          <a:bodyPr wrap="square">
            <a:spAutoFit/>
          </a:bodyPr>
          <a:lstStyle/>
          <a:p>
            <a:pPr algn="l">
              <a:defRPr sz="1100" b="0" i="0">
                <a:solidFill>
                  <a:srgbClr val="5C6270"/>
                </a:solidFill>
                <a:latin typeface="Calibri"/>
              </a:defRPr>
            </a:pPr>
            <a:r>
              <a:t>#general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F59E0B"/>
                </a:solidFill>
                <a:latin typeface="Calibri"/>
              </a:defRPr>
            </a:pPr>
            <a:r>
              <a:t>📊  EVENT</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F59E0B"/>
                </a:solidFill>
                <a:latin typeface="Calibri"/>
              </a:defRPr>
            </a:pPr>
            <a:r>
              <a:t>Performance Review Season</a:t>
            </a:r>
          </a:p>
        </p:txBody>
      </p:sp>
      <p:sp>
        <p:nvSpPr>
          <p:cNvPr id="5" name="TextBox 4"/>
          <p:cNvSpPr txBox="1"/>
          <p:nvPr/>
        </p:nvSpPr>
        <p:spPr>
          <a:xfrm>
            <a:off x="1097280" y="2103120"/>
            <a:ext cx="9966960" cy="548640"/>
          </a:xfrm>
          <a:prstGeom prst="rect">
            <a:avLst/>
          </a:prstGeom>
          <a:noFill/>
        </p:spPr>
        <p:txBody>
          <a:bodyPr wrap="square">
            <a:spAutoFit/>
          </a:bodyPr>
          <a:lstStyle/>
          <a:p>
            <a:pPr algn="l">
              <a:defRPr sz="2200" b="1" i="0">
                <a:solidFill>
                  <a:srgbClr val="FFFFFF"/>
                </a:solidFill>
                <a:latin typeface="Calibri"/>
              </a:defRPr>
            </a:pPr>
            <a:r>
              <a:t>Q1 Performance Reviews</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1" i="0">
                <a:solidFill>
                  <a:srgbClr val="F59E0B"/>
                </a:solidFill>
                <a:latin typeface="Calibri"/>
              </a:defRPr>
            </a:pPr>
            <a:r>
              <a:t>Starting Today</a:t>
            </a:r>
          </a:p>
        </p:txBody>
      </p:sp>
      <p:sp>
        <p:nvSpPr>
          <p:cNvPr id="7" name="TextBox 6"/>
          <p:cNvSpPr txBox="1"/>
          <p:nvPr/>
        </p:nvSpPr>
        <p:spPr>
          <a:xfrm>
            <a:off x="1097280" y="3291840"/>
            <a:ext cx="9966960" cy="1371600"/>
          </a:xfrm>
          <a:prstGeom prst="rect">
            <a:avLst/>
          </a:prstGeom>
          <a:noFill/>
        </p:spPr>
        <p:txBody>
          <a:bodyPr wrap="square">
            <a:spAutoFit/>
          </a:bodyPr>
          <a:lstStyle/>
          <a:p>
            <a:pPr algn="l">
              <a:defRPr sz="1500" b="0" i="0">
                <a:solidFill>
                  <a:srgbClr val="E2E2EA"/>
                </a:solidFill>
                <a:latin typeface="Calibri"/>
              </a:defRPr>
            </a:pPr>
            <a:r>
              <a:t>Keeping it light and focused this quarter! Managers answer 3 key questions, everyone completes self-assessments covering performance, culture, and psychological safety.</a:t>
            </a:r>
          </a:p>
        </p:txBody>
      </p:sp>
      <p:sp>
        <p:nvSpPr>
          <p:cNvPr id="8" name="TextBox 7"/>
          <p:cNvSpPr txBox="1"/>
          <p:nvPr/>
        </p:nvSpPr>
        <p:spPr>
          <a:xfrm>
            <a:off x="1097280" y="5029200"/>
            <a:ext cx="9966960" cy="365760"/>
          </a:xfrm>
          <a:prstGeom prst="rect">
            <a:avLst/>
          </a:prstGeom>
          <a:noFill/>
        </p:spPr>
        <p:txBody>
          <a:bodyPr wrap="square">
            <a:spAutoFit/>
          </a:bodyPr>
          <a:lstStyle/>
          <a:p>
            <a:pPr algn="l">
              <a:defRPr sz="1300" b="0" i="0">
                <a:solidFill>
                  <a:srgbClr val="8F95A3"/>
                </a:solidFill>
                <a:latin typeface="Calibri"/>
              </a:defRPr>
            </a:pPr>
            <a:r>
              <a:t>Organized by HR Team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10B981"/>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10B981"/>
                </a:solidFill>
                <a:latin typeface="Calibri"/>
              </a:defRPr>
            </a:pPr>
            <a:r>
              <a:t>Team Recognition</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10B981"/>
                </a:solidFill>
                <a:latin typeface="Calibri"/>
              </a:defRPr>
            </a:pPr>
            <a:r>
              <a:t>90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Mykhailo Kukharskyi</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Gleb Krahotkin</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"Outstanding technical leadership and problem-solving skills that drive our platform forward"</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10B981"/>
                </a:solidFill>
                <a:latin typeface="Calibri"/>
              </a:defRPr>
            </a:pPr>
            <a:r>
              <a:t>Excellence · Innovation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8B5CF6"/>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8B5CF6"/>
                </a:solidFill>
                <a:latin typeface="Calibri"/>
              </a:defRPr>
            </a:pPr>
            <a:r>
              <a:t>Cross-Team Excellence</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8B5CF6"/>
                </a:solidFill>
                <a:latin typeface="Calibri"/>
              </a:defRPr>
            </a:pPr>
            <a:r>
              <a:t>90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Viktor Trykolenko</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Iurii Kotov</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"Exceptional collaboration and technical expertise driving key platform improvements"</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8B5CF6"/>
                </a:solidFill>
                <a:latin typeface="Calibri"/>
              </a:defRPr>
            </a:pPr>
            <a:r>
              <a:t>Teamwork · Excellence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EC4899"/>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EC4899"/>
                </a:solidFill>
                <a:latin typeface="Calibri"/>
              </a:defRPr>
            </a:pPr>
            <a:r>
              <a:t>Leadership Recognition</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EC4899"/>
                </a:solidFill>
                <a:latin typeface="Calibri"/>
              </a:defRPr>
            </a:pPr>
            <a:r>
              <a:t>50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Jasmine Nunez</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Michelle Walter</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"Exceptional leadership and strategic vision that guides our teams to success"</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EC4899"/>
                </a:solidFill>
                <a:latin typeface="Calibri"/>
              </a:defRPr>
            </a:pPr>
            <a:r>
              <a:t>Leadership · Vision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DC2626"/>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DC2626"/>
                </a:solidFill>
                <a:latin typeface="Calibri"/>
              </a:defRPr>
            </a:pPr>
            <a:r>
              <a:t>Outstanding Performance</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DC2626"/>
                </a:solidFill>
                <a:latin typeface="Calibri"/>
              </a:defRPr>
            </a:pPr>
            <a:r>
              <a:t>50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Michael Lotfy</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Issa Isahakyan</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"Consistently delivering exceptional results and inspiring the team with dedication"</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DC2626"/>
                </a:solidFill>
                <a:latin typeface="Calibri"/>
              </a:defRPr>
            </a:pPr>
            <a:r>
              <a:t>Excellence · Dedication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10B981"/>
                </a:solidFill>
                <a:latin typeface="Calibri"/>
              </a:defRPr>
            </a:pPr>
            <a:r>
              <a:t>🎮  MILESTONE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10B981"/>
                </a:solidFill>
                <a:latin typeface="Calibri"/>
              </a:defRPr>
            </a:pPr>
            <a:r>
              <a:t>Gaming Success Story</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5200" b="1" i="0">
                <a:solidFill>
                  <a:srgbClr val="10B981"/>
                </a:solidFill>
                <a:latin typeface="Calibri"/>
              </a:defRPr>
            </a:pPr>
            <a:r>
              <a:t>8%</a:t>
            </a:r>
          </a:p>
        </p:txBody>
      </p:sp>
      <p:sp>
        <p:nvSpPr>
          <p:cNvPr id="6" name="TextBox 5"/>
          <p:cNvSpPr txBox="1"/>
          <p:nvPr/>
        </p:nvSpPr>
        <p:spPr>
          <a:xfrm>
            <a:off x="1097280" y="2926080"/>
            <a:ext cx="4572000" cy="365760"/>
          </a:xfrm>
          <a:prstGeom prst="rect">
            <a:avLst/>
          </a:prstGeom>
          <a:noFill/>
        </p:spPr>
        <p:txBody>
          <a:bodyPr wrap="square">
            <a:spAutoFit/>
          </a:bodyPr>
          <a:lstStyle/>
          <a:p>
            <a:pPr algn="l">
              <a:defRPr sz="1100" b="0" i="0">
                <a:solidFill>
                  <a:srgbClr val="8F95A3"/>
                </a:solidFill>
                <a:latin typeface="Calibri"/>
              </a:defRPr>
            </a:pPr>
            <a:r>
              <a:t>Retention Improvement</a:t>
            </a:r>
          </a:p>
        </p:txBody>
      </p:sp>
      <p:sp>
        <p:nvSpPr>
          <p:cNvPr id="7" name="TextBox 6"/>
          <p:cNvSpPr txBox="1"/>
          <p:nvPr/>
        </p:nvSpPr>
        <p:spPr>
          <a:xfrm>
            <a:off x="1097280" y="3566160"/>
            <a:ext cx="9966960" cy="457200"/>
          </a:xfrm>
          <a:prstGeom prst="rect">
            <a:avLst/>
          </a:prstGeom>
          <a:noFill/>
        </p:spPr>
        <p:txBody>
          <a:bodyPr wrap="square">
            <a:spAutoFit/>
          </a:bodyPr>
          <a:lstStyle/>
          <a:p>
            <a:pPr algn="l">
              <a:defRPr sz="1800" b="1" i="0">
                <a:solidFill>
                  <a:srgbClr val="FFFFFF"/>
                </a:solidFill>
                <a:latin typeface="Calibri"/>
              </a:defRPr>
            </a:pPr>
            <a:r>
              <a:t>Solitaire Achieves Major Retention Breakthrough</a:t>
            </a:r>
          </a:p>
        </p:txBody>
      </p:sp>
      <p:sp>
        <p:nvSpPr>
          <p:cNvPr id="8" name="TextBox 7"/>
          <p:cNvSpPr txBox="1"/>
          <p:nvPr/>
        </p:nvSpPr>
        <p:spPr>
          <a:xfrm>
            <a:off x="1097280" y="4206240"/>
            <a:ext cx="9966960" cy="1371600"/>
          </a:xfrm>
          <a:prstGeom prst="rect">
            <a:avLst/>
          </a:prstGeom>
          <a:noFill/>
        </p:spPr>
        <p:txBody>
          <a:bodyPr wrap="square">
            <a:spAutoFit/>
          </a:bodyPr>
          <a:lstStyle/>
          <a:p>
            <a:pPr algn="l">
              <a:defRPr sz="1500" b="0" i="0">
                <a:solidFill>
                  <a:srgbClr val="E2E2EA"/>
                </a:solidFill>
                <a:latin typeface="Calibri"/>
              </a:defRPr>
            </a:pPr>
            <a:r>
              <a:t>Our Solitaire game is making significant strides with bug fixes resolved, new level-up features boosting engagement, and quest data showing 8% improvement in early retention metrics.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F59E0B"/>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F59E0B"/>
                </a:solidFill>
                <a:latin typeface="Calibri"/>
              </a:defRPr>
            </a:pPr>
            <a:r>
              <a:t>Campaign Optimization Win</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F59E0B"/>
                </a:solidFill>
                <a:latin typeface="Calibri"/>
              </a:defRPr>
            </a:pPr>
            <a:r>
              <a:t>80% → 10%</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Fail Rate Drop</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Marketing Team</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Smart Config Changes Drive Major Results</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Warmaker campaign adjustments improved session length and progression dramatically. The configuration flexibility is proving to be a game-changer for user engagement.</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"Data-driven optimization delivers massive improvements"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8B5CF6"/>
                </a:solidFill>
                <a:latin typeface="Calibri"/>
              </a:defRPr>
            </a:pPr>
            <a:r>
              <a:t>🤖  MILESTONE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8B5CF6"/>
                </a:solidFill>
                <a:latin typeface="Calibri"/>
              </a:defRPr>
            </a:pPr>
            <a:r>
              <a:t>AI Innovation Progress</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5200" b="1" i="0">
                <a:solidFill>
                  <a:srgbClr val="8B5CF6"/>
                </a:solidFill>
                <a:latin typeface="Calibri"/>
              </a:defRPr>
            </a:pPr>
            <a:r>
              <a:t>56</a:t>
            </a:r>
          </a:p>
        </p:txBody>
      </p:sp>
      <p:sp>
        <p:nvSpPr>
          <p:cNvPr id="6" name="TextBox 5"/>
          <p:cNvSpPr txBox="1"/>
          <p:nvPr/>
        </p:nvSpPr>
        <p:spPr>
          <a:xfrm>
            <a:off x="1097280" y="2926080"/>
            <a:ext cx="4572000" cy="365760"/>
          </a:xfrm>
          <a:prstGeom prst="rect">
            <a:avLst/>
          </a:prstGeom>
          <a:noFill/>
        </p:spPr>
        <p:txBody>
          <a:bodyPr wrap="square">
            <a:spAutoFit/>
          </a:bodyPr>
          <a:lstStyle/>
          <a:p>
            <a:pPr algn="l">
              <a:defRPr sz="1100" b="0" i="0">
                <a:solidFill>
                  <a:srgbClr val="8F95A3"/>
                </a:solidFill>
                <a:latin typeface="Calibri"/>
              </a:defRPr>
            </a:pPr>
            <a:r>
              <a:t>Machines Testing AI System</a:t>
            </a:r>
          </a:p>
        </p:txBody>
      </p:sp>
      <p:sp>
        <p:nvSpPr>
          <p:cNvPr id="7" name="TextBox 6"/>
          <p:cNvSpPr txBox="1"/>
          <p:nvPr/>
        </p:nvSpPr>
        <p:spPr>
          <a:xfrm>
            <a:off x="1097280" y="3566160"/>
            <a:ext cx="9966960" cy="457200"/>
          </a:xfrm>
          <a:prstGeom prst="rect">
            <a:avLst/>
          </a:prstGeom>
          <a:noFill/>
        </p:spPr>
        <p:txBody>
          <a:bodyPr wrap="square">
            <a:spAutoFit/>
          </a:bodyPr>
          <a:lstStyle/>
          <a:p>
            <a:pPr algn="l">
              <a:defRPr sz="1800" b="1" i="0">
                <a:solidFill>
                  <a:srgbClr val="FFFFFF"/>
                </a:solidFill>
                <a:latin typeface="Calibri"/>
              </a:defRPr>
            </a:pPr>
            <a:r>
              <a:t>Automated Data Analysis Takes Shape</a:t>
            </a:r>
          </a:p>
        </p:txBody>
      </p:sp>
      <p:sp>
        <p:nvSpPr>
          <p:cNvPr id="8" name="TextBox 7"/>
          <p:cNvSpPr txBox="1"/>
          <p:nvPr/>
        </p:nvSpPr>
        <p:spPr>
          <a:xfrm>
            <a:off x="1097280" y="4206240"/>
            <a:ext cx="9966960" cy="1371600"/>
          </a:xfrm>
          <a:prstGeom prst="rect">
            <a:avLst/>
          </a:prstGeom>
          <a:noFill/>
        </p:spPr>
        <p:txBody>
          <a:bodyPr wrap="square">
            <a:spAutoFit/>
          </a:bodyPr>
          <a:lstStyle/>
          <a:p>
            <a:pPr algn="l">
              <a:defRPr sz="1500" b="0" i="0">
                <a:solidFill>
                  <a:srgbClr val="E2E2EA"/>
                </a:solidFill>
                <a:latin typeface="Calibri"/>
              </a:defRPr>
            </a:pPr>
            <a:r>
              <a:t>Our AI-powered data analysis system is being tested across 56 machines, designed to minimize manual work and errors. The AI agent is already generating and testing code, discovering bugs that affect 20% of our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06B6D4"/>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06B6D4"/>
                </a:solidFill>
                <a:latin typeface="Calibri"/>
              </a:defRPr>
            </a:pPr>
            <a:r>
              <a:t>SDK Platform Progress</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06B6D4"/>
                </a:solidFill>
                <a:latin typeface="Calibri"/>
              </a:defRPr>
            </a:pPr>
            <a:r>
              <a:t>4.1.0</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Version Release</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Mediation Team</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SDK Development on Track for April</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SDK version 4.1.0 is planned for April with only 9 work items remaining. Cross-platform solutions are being successfully tested on both iOS and Android.</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"Solid progress toward our next major SDK milestone"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10B981"/>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10B981"/>
                </a:solidFill>
                <a:latin typeface="Calibri"/>
              </a:defRPr>
            </a:pPr>
            <a:r>
              <a:t>Revenue Growth Engine</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10B981"/>
                </a:solidFill>
                <a:latin typeface="Calibri"/>
              </a:defRPr>
            </a:pPr>
            <a:r>
              <a:t>$100M</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Gross Profit</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Company</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Strong Financial Foundation</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We've achieved approximately $100M in gross profit with $20M EBITDA, positioning us for 40% year-over-year growth as we build toward our ambitious vision.</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"Solid fundamentals fuel our expansion plans"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DC2626"/>
                </a:solidFill>
                <a:latin typeface="Calibri"/>
              </a:defRPr>
            </a:pPr>
            <a:r>
              <a:t>🎯  MILESTONE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DC2626"/>
                </a:solidFill>
                <a:latin typeface="Calibri"/>
              </a:defRPr>
            </a:pPr>
            <a:r>
              <a:t>AI-Powered Efficiency</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5200" b="1" i="0">
                <a:solidFill>
                  <a:srgbClr val="DC2626"/>
                </a:solidFill>
                <a:latin typeface="Calibri"/>
              </a:defRPr>
            </a:pPr>
            <a:r>
              <a:t>1,000+</a:t>
            </a:r>
          </a:p>
        </p:txBody>
      </p:sp>
      <p:sp>
        <p:nvSpPr>
          <p:cNvPr id="6" name="TextBox 5"/>
          <p:cNvSpPr txBox="1"/>
          <p:nvPr/>
        </p:nvSpPr>
        <p:spPr>
          <a:xfrm>
            <a:off x="1097280" y="2926080"/>
            <a:ext cx="4572000" cy="365760"/>
          </a:xfrm>
          <a:prstGeom prst="rect">
            <a:avLst/>
          </a:prstGeom>
          <a:noFill/>
        </p:spPr>
        <p:txBody>
          <a:bodyPr wrap="square">
            <a:spAutoFit/>
          </a:bodyPr>
          <a:lstStyle/>
          <a:p>
            <a:pPr algn="l">
              <a:defRPr sz="1100" b="0" i="0">
                <a:solidFill>
                  <a:srgbClr val="8F95A3"/>
                </a:solidFill>
                <a:latin typeface="Calibri"/>
              </a:defRPr>
            </a:pPr>
            <a:r>
              <a:t>Daily OKR Checks</a:t>
            </a:r>
          </a:p>
        </p:txBody>
      </p:sp>
      <p:sp>
        <p:nvSpPr>
          <p:cNvPr id="7" name="TextBox 6"/>
          <p:cNvSpPr txBox="1"/>
          <p:nvPr/>
        </p:nvSpPr>
        <p:spPr>
          <a:xfrm>
            <a:off x="1097280" y="3566160"/>
            <a:ext cx="9966960" cy="457200"/>
          </a:xfrm>
          <a:prstGeom prst="rect">
            <a:avLst/>
          </a:prstGeom>
          <a:noFill/>
        </p:spPr>
        <p:txBody>
          <a:bodyPr wrap="square">
            <a:spAutoFit/>
          </a:bodyPr>
          <a:lstStyle/>
          <a:p>
            <a:pPr algn="l">
              <a:defRPr sz="1800" b="1" i="0">
                <a:solidFill>
                  <a:srgbClr val="FFFFFF"/>
                </a:solidFill>
                <a:latin typeface="Calibri"/>
              </a:defRPr>
            </a:pPr>
            <a:r>
              <a:t>OKR Auditor Transforms Goal Tracking</a:t>
            </a:r>
          </a:p>
        </p:txBody>
      </p:sp>
      <p:sp>
        <p:nvSpPr>
          <p:cNvPr id="8" name="TextBox 7"/>
          <p:cNvSpPr txBox="1"/>
          <p:nvPr/>
        </p:nvSpPr>
        <p:spPr>
          <a:xfrm>
            <a:off x="1097280" y="4206240"/>
            <a:ext cx="9966960" cy="1371600"/>
          </a:xfrm>
          <a:prstGeom prst="rect">
            <a:avLst/>
          </a:prstGeom>
          <a:noFill/>
        </p:spPr>
        <p:txBody>
          <a:bodyPr wrap="square">
            <a:spAutoFit/>
          </a:bodyPr>
          <a:lstStyle/>
          <a:p>
            <a:pPr algn="l">
              <a:defRPr sz="1500" b="0" i="0">
                <a:solidFill>
                  <a:srgbClr val="E2E2EA"/>
                </a:solidFill>
                <a:latin typeface="Calibri"/>
              </a:defRPr>
            </a:pPr>
            <a:r>
              <a:t>Our AI OKR Auditor now checks over 1,000 individual OKRs daily, bringing unprecedented visibility and accountability to our goal-setting process across all teams.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8B5CF6"/>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8B5CF6"/>
                </a:solidFill>
                <a:latin typeface="Calibri"/>
              </a:defRPr>
            </a:pPr>
            <a:r>
              <a:t>Security Victory</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8B5CF6"/>
                </a:solidFill>
                <a:latin typeface="Calibri"/>
              </a:defRPr>
            </a:pPr>
            <a:r>
              <a:t>22% → 4%</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Fraud Reduction</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Platform Team</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Dynamic SDK Signatures Crush Fraud</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Our advanced fraud detection system using dynamic SDK signatures has dramatically reduced fraud from 22% to under 4%, protecting our platform and partners.</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"Smart security innovations deliver massive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F59E0B"/>
                </a:solidFill>
                <a:latin typeface="Calibri"/>
              </a:defRPr>
            </a:pPr>
            <a:r>
              <a:t>📚  MILESTONE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F59E0B"/>
                </a:solidFill>
                <a:latin typeface="Calibri"/>
              </a:defRPr>
            </a:pPr>
            <a:r>
              <a:t>Learning Culture Thrives</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5200" b="1" i="0">
                <a:solidFill>
                  <a:srgbClr val="F59E0B"/>
                </a:solidFill>
                <a:latin typeface="Calibri"/>
              </a:defRPr>
            </a:pPr>
            <a:r>
              <a:t>140+</a:t>
            </a:r>
          </a:p>
        </p:txBody>
      </p:sp>
      <p:sp>
        <p:nvSpPr>
          <p:cNvPr id="6" name="TextBox 5"/>
          <p:cNvSpPr txBox="1"/>
          <p:nvPr/>
        </p:nvSpPr>
        <p:spPr>
          <a:xfrm>
            <a:off x="1097280" y="2926080"/>
            <a:ext cx="4572000" cy="365760"/>
          </a:xfrm>
          <a:prstGeom prst="rect">
            <a:avLst/>
          </a:prstGeom>
          <a:noFill/>
        </p:spPr>
        <p:txBody>
          <a:bodyPr wrap="square">
            <a:spAutoFit/>
          </a:bodyPr>
          <a:lstStyle/>
          <a:p>
            <a:pPr algn="l">
              <a:defRPr sz="1100" b="0" i="0">
                <a:solidFill>
                  <a:srgbClr val="8F95A3"/>
                </a:solidFill>
                <a:latin typeface="Calibri"/>
              </a:defRPr>
            </a:pPr>
            <a:r>
              <a:t>Book Club Members</a:t>
            </a:r>
          </a:p>
        </p:txBody>
      </p:sp>
      <p:sp>
        <p:nvSpPr>
          <p:cNvPr id="7" name="TextBox 6"/>
          <p:cNvSpPr txBox="1"/>
          <p:nvPr/>
        </p:nvSpPr>
        <p:spPr>
          <a:xfrm>
            <a:off x="1097280" y="3566160"/>
            <a:ext cx="9966960" cy="457200"/>
          </a:xfrm>
          <a:prstGeom prst="rect">
            <a:avLst/>
          </a:prstGeom>
          <a:noFill/>
        </p:spPr>
        <p:txBody>
          <a:bodyPr wrap="square">
            <a:spAutoFit/>
          </a:bodyPr>
          <a:lstStyle/>
          <a:p>
            <a:pPr algn="l">
              <a:defRPr sz="1800" b="1" i="0">
                <a:solidFill>
                  <a:srgbClr val="FFFFFF"/>
                </a:solidFill>
                <a:latin typeface="Calibri"/>
              </a:defRPr>
            </a:pPr>
            <a:r>
              <a:t>Book Club Reaches 140+ Members</a:t>
            </a:r>
          </a:p>
        </p:txBody>
      </p:sp>
      <p:sp>
        <p:nvSpPr>
          <p:cNvPr id="8" name="TextBox 7"/>
          <p:cNvSpPr txBox="1"/>
          <p:nvPr/>
        </p:nvSpPr>
        <p:spPr>
          <a:xfrm>
            <a:off x="1097280" y="4206240"/>
            <a:ext cx="9966960" cy="1371600"/>
          </a:xfrm>
          <a:prstGeom prst="rect">
            <a:avLst/>
          </a:prstGeom>
          <a:noFill/>
        </p:spPr>
        <p:txBody>
          <a:bodyPr wrap="square">
            <a:spAutoFit/>
          </a:bodyPr>
          <a:lstStyle/>
          <a:p>
            <a:pPr algn="l">
              <a:defRPr sz="1500" b="0" i="0">
                <a:solidFill>
                  <a:srgbClr val="E2E2EA"/>
                </a:solidFill>
                <a:latin typeface="Calibri"/>
              </a:defRPr>
            </a:pPr>
            <a:r>
              <a:t>Our 'Passionate Curiosity' book club continues to grow, now with over 140 participants fostering a culture of continuous learning and intellectual curiosity across the company.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10B981"/>
                </a:solidFill>
                <a:latin typeface="Calibri"/>
              </a:defRPr>
            </a:pPr>
            <a:r>
              <a:t>🧘  OFFICE LIFE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10B981"/>
                </a:solidFill>
                <a:latin typeface="Calibri"/>
              </a:defRPr>
            </a:pPr>
            <a:r>
              <a:t>Wellness Initiative</a:t>
            </a:r>
          </a:p>
        </p:txBody>
      </p:sp>
      <p:sp>
        <p:nvSpPr>
          <p:cNvPr id="5" name="TextBox 4"/>
          <p:cNvSpPr txBox="1"/>
          <p:nvPr/>
        </p:nvSpPr>
        <p:spPr>
          <a:xfrm>
            <a:off x="1097280" y="2103120"/>
            <a:ext cx="9966960" cy="457200"/>
          </a:xfrm>
          <a:prstGeom prst="rect">
            <a:avLst/>
          </a:prstGeom>
          <a:noFill/>
        </p:spPr>
        <p:txBody>
          <a:bodyPr wrap="square">
            <a:spAutoFit/>
          </a:bodyPr>
          <a:lstStyle/>
          <a:p>
            <a:pPr algn="l">
              <a:defRPr sz="1800" b="1" i="0">
                <a:solidFill>
                  <a:srgbClr val="FFFFFF"/>
                </a:solidFill>
                <a:latin typeface="Calibri"/>
              </a:defRPr>
            </a:pPr>
            <a:r>
              <a:t>Daily Yoga Builds Team Wellness</a:t>
            </a:r>
          </a:p>
        </p:txBody>
      </p:sp>
      <p:sp>
        <p:nvSpPr>
          <p:cNvPr id="6" name="TextBox 5"/>
          <p:cNvSpPr txBox="1"/>
          <p:nvPr/>
        </p:nvSpPr>
        <p:spPr>
          <a:xfrm>
            <a:off x="1371600" y="2743200"/>
            <a:ext cx="9692640" cy="1828800"/>
          </a:xfrm>
          <a:prstGeom prst="rect">
            <a:avLst/>
          </a:prstGeom>
          <a:noFill/>
        </p:spPr>
        <p:txBody>
          <a:bodyPr wrap="square">
            <a:spAutoFit/>
          </a:bodyPr>
          <a:lstStyle/>
          <a:p>
            <a:pPr algn="l">
              <a:defRPr sz="1500" b="0" i="1">
                <a:solidFill>
                  <a:srgbClr val="E2E2EA"/>
                </a:solidFill>
                <a:latin typeface="Calibri"/>
              </a:defRPr>
            </a:pPr>
            <a:r>
              <a:t>"Join us every day at 13:10 CET for yoga — streaming online and in the office for everyone's wellbeing"</a:t>
            </a:r>
          </a:p>
        </p:txBody>
      </p:sp>
      <p:sp>
        <p:nvSpPr>
          <p:cNvPr id="7" name="TextBox 6"/>
          <p:cNvSpPr txBox="1"/>
          <p:nvPr/>
        </p:nvSpPr>
        <p:spPr>
          <a:xfrm>
            <a:off x="1097280" y="4754880"/>
            <a:ext cx="9966960" cy="365760"/>
          </a:xfrm>
          <a:prstGeom prst="rect">
            <a:avLst/>
          </a:prstGeom>
          <a:noFill/>
        </p:spPr>
        <p:txBody>
          <a:bodyPr wrap="square">
            <a:spAutoFit/>
          </a:bodyPr>
          <a:lstStyle/>
          <a:p>
            <a:pPr algn="l">
              <a:defRPr sz="1400" b="0" i="0">
                <a:solidFill>
                  <a:srgbClr val="8F95A3"/>
                </a:solidFill>
                <a:latin typeface="Calibri"/>
              </a:defRPr>
            </a:pPr>
            <a:r>
              <a:t>— Anna Kolyada</a:t>
            </a:r>
          </a:p>
        </p:txBody>
      </p:sp>
      <p:sp>
        <p:nvSpPr>
          <p:cNvPr id="8" name="TextBox 7"/>
          <p:cNvSpPr txBox="1"/>
          <p:nvPr/>
        </p:nvSpPr>
        <p:spPr>
          <a:xfrm>
            <a:off x="1097280" y="5212080"/>
            <a:ext cx="9966960" cy="365760"/>
          </a:xfrm>
          <a:prstGeom prst="rect">
            <a:avLst/>
          </a:prstGeom>
          <a:noFill/>
        </p:spPr>
        <p:txBody>
          <a:bodyPr wrap="square">
            <a:spAutoFit/>
          </a:bodyPr>
          <a:lstStyle/>
          <a:p>
            <a:pPr algn="l">
              <a:defRPr sz="1400" b="1" i="0">
                <a:solidFill>
                  <a:srgbClr val="10B981"/>
                </a:solidFill>
                <a:latin typeface="Calibri"/>
              </a:defRPr>
            </a:pPr>
            <a:r>
              <a:t>🧘‍♀️ 15, ❤️ 8</a:t>
            </a:r>
          </a:p>
        </p:txBody>
      </p:sp>
      <p:sp>
        <p:nvSpPr>
          <p:cNvPr id="9" name="TextBox 8"/>
          <p:cNvSpPr txBox="1"/>
          <p:nvPr/>
        </p:nvSpPr>
        <p:spPr>
          <a:xfrm>
            <a:off x="1097280" y="5760720"/>
            <a:ext cx="9966960" cy="274320"/>
          </a:xfrm>
          <a:prstGeom prst="rect">
            <a:avLst/>
          </a:prstGeom>
          <a:noFill/>
        </p:spPr>
        <p:txBody>
          <a:bodyPr wrap="square">
            <a:spAutoFit/>
          </a:bodyPr>
          <a:lstStyle/>
          <a:p>
            <a:pPr algn="l">
              <a:defRPr sz="1100" b="0" i="0">
                <a:solidFill>
                  <a:srgbClr val="5C6270"/>
                </a:solidFill>
                <a:latin typeface="Calibri"/>
              </a:defRPr>
            </a:pPr>
            <a:r>
              <a:t>Wellness Program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EC4899"/>
                </a:solidFill>
                <a:latin typeface="Calibri"/>
              </a:defRPr>
            </a:pPr>
            <a:r>
              <a:t>🎯  WEEKLY RITUAL</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EC4899"/>
                </a:solidFill>
                <a:latin typeface="Calibri"/>
              </a:defRPr>
            </a:pPr>
            <a:r>
              <a:t>Monday Motivation</a:t>
            </a:r>
          </a:p>
        </p:txBody>
      </p:sp>
      <p:sp>
        <p:nvSpPr>
          <p:cNvPr id="5" name="TextBox 4"/>
          <p:cNvSpPr txBox="1"/>
          <p:nvPr/>
        </p:nvSpPr>
        <p:spPr>
          <a:xfrm>
            <a:off x="1097280" y="2103120"/>
            <a:ext cx="9966960" cy="457200"/>
          </a:xfrm>
          <a:prstGeom prst="rect">
            <a:avLst/>
          </a:prstGeom>
          <a:noFill/>
        </p:spPr>
        <p:txBody>
          <a:bodyPr wrap="square">
            <a:spAutoFit/>
          </a:bodyPr>
          <a:lstStyle/>
          <a:p>
            <a:pPr algn="l">
              <a:defRPr sz="1800" b="1" i="0">
                <a:solidFill>
                  <a:srgbClr val="FFFFFF"/>
                </a:solidFill>
                <a:latin typeface="Calibri"/>
              </a:defRPr>
            </a:pPr>
            <a:r>
              <a:t>Build. Ship. Improve.</a:t>
            </a:r>
          </a:p>
        </p:txBody>
      </p:sp>
      <p:sp>
        <p:nvSpPr>
          <p:cNvPr id="6" name="TextBox 5"/>
          <p:cNvSpPr txBox="1"/>
          <p:nvPr/>
        </p:nvSpPr>
        <p:spPr>
          <a:xfrm>
            <a:off x="1371600" y="2926080"/>
            <a:ext cx="9418320" cy="548640"/>
          </a:xfrm>
          <a:prstGeom prst="rect">
            <a:avLst/>
          </a:prstGeom>
          <a:noFill/>
        </p:spPr>
        <p:txBody>
          <a:bodyPr wrap="square">
            <a:spAutoFit/>
          </a:bodyPr>
          <a:lstStyle/>
          <a:p>
            <a:pPr algn="l">
              <a:defRPr sz="1400" b="0" i="0">
                <a:solidFill>
                  <a:srgbClr val="E2E2EA"/>
                </a:solidFill>
                <a:latin typeface="Calibri"/>
              </a:defRPr>
            </a:pPr>
            <a:r>
              <a:t>What will you build today?</a:t>
            </a:r>
          </a:p>
        </p:txBody>
      </p:sp>
      <p:sp>
        <p:nvSpPr>
          <p:cNvPr id="7" name="TextBox 6"/>
          <p:cNvSpPr txBox="1"/>
          <p:nvPr/>
        </p:nvSpPr>
        <p:spPr>
          <a:xfrm>
            <a:off x="1371600" y="3657600"/>
            <a:ext cx="9418320" cy="548640"/>
          </a:xfrm>
          <a:prstGeom prst="rect">
            <a:avLst/>
          </a:prstGeom>
          <a:noFill/>
        </p:spPr>
        <p:txBody>
          <a:bodyPr wrap="square">
            <a:spAutoFit/>
          </a:bodyPr>
          <a:lstStyle/>
          <a:p>
            <a:pPr algn="l">
              <a:defRPr sz="1400" b="0" i="0">
                <a:solidFill>
                  <a:srgbClr val="E2E2EA"/>
                </a:solidFill>
                <a:latin typeface="Calibri"/>
              </a:defRPr>
            </a:pPr>
            <a:r>
              <a:t>How will you turn ideas into pull requests?</a:t>
            </a:r>
          </a:p>
        </p:txBody>
      </p:sp>
      <p:sp>
        <p:nvSpPr>
          <p:cNvPr id="8" name="TextBox 7"/>
          <p:cNvSpPr txBox="1"/>
          <p:nvPr/>
        </p:nvSpPr>
        <p:spPr>
          <a:xfrm>
            <a:off x="1097280" y="4754880"/>
            <a:ext cx="9966960" cy="731520"/>
          </a:xfrm>
          <a:prstGeom prst="rect">
            <a:avLst/>
          </a:prstGeom>
          <a:noFill/>
        </p:spPr>
        <p:txBody>
          <a:bodyPr wrap="square">
            <a:spAutoFit/>
          </a:bodyPr>
          <a:lstStyle/>
          <a:p>
            <a:pPr algn="l">
              <a:defRPr sz="1500" b="0" i="1">
                <a:solidFill>
                  <a:srgbClr val="E2E2EA"/>
                </a:solidFill>
                <a:latin typeface="Calibri"/>
              </a:defRPr>
            </a:pPr>
            <a:r>
              <a:t>Innovation mindset drives everything we do</a:t>
            </a:r>
          </a:p>
        </p:txBody>
      </p:sp>
      <p:sp>
        <p:nvSpPr>
          <p:cNvPr id="9" name="TextBox 8"/>
          <p:cNvSpPr txBox="1"/>
          <p:nvPr/>
        </p:nvSpPr>
        <p:spPr>
          <a:xfrm>
            <a:off x="1097280" y="5760720"/>
            <a:ext cx="9966960" cy="274320"/>
          </a:xfrm>
          <a:prstGeom prst="rect">
            <a:avLst/>
          </a:prstGeom>
          <a:noFill/>
        </p:spPr>
        <p:txBody>
          <a:bodyPr wrap="square">
            <a:spAutoFit/>
          </a:bodyPr>
          <a:lstStyle/>
          <a:p>
            <a:pPr algn="l">
              <a:defRPr sz="1100" b="0" i="0">
                <a:solidFill>
                  <a:srgbClr val="5C6270"/>
                </a:solidFill>
                <a:latin typeface="Calibri"/>
              </a:defRPr>
            </a:pPr>
            <a:r>
              <a:t>#general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