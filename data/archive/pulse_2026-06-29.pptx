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8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97280" y="1828800"/>
            <a:ext cx="9966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 i="0">
                <a:solidFill>
                  <a:srgbClr val="5C6270"/>
                </a:solidFill>
                <a:latin typeface="Calibri"/>
              </a:defRPr>
            </a:pPr>
            <a:r>
              <a:t>APPODEAL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2468880"/>
            <a:ext cx="9966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600" b="1" i="0">
                <a:solidFill>
                  <a:srgbClr val="FFFFFF"/>
                </a:solidFill>
                <a:latin typeface="Calibri"/>
              </a:defRPr>
            </a:pPr>
            <a:r>
              <a:t>PULSE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3840480"/>
            <a:ext cx="9966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 i="0">
                <a:solidFill>
                  <a:srgbClr val="8F95A3"/>
                </a:solidFill>
                <a:latin typeface="Calibri"/>
              </a:defRPr>
            </a:pPr>
            <a:r>
              <a:t>Monday, June 29, 2026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0" y="4572000"/>
            <a:ext cx="2103120" cy="36576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8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0"/>
            <a:ext cx="12191695" cy="54864"/>
          </a:xfrm>
          <a:prstGeom prst="rect">
            <a:avLst/>
          </a:prstGeom>
          <a:solidFill>
            <a:srgbClr val="FFB7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73152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1">
                <a:solidFill>
                  <a:srgbClr val="FFB72B"/>
                </a:solidFill>
                <a:latin typeface="Calibri"/>
              </a:defRPr>
            </a:pPr>
            <a:r>
              <a:t>🎂  CELEBRATION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188720"/>
            <a:ext cx="9966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 i="0">
                <a:solidFill>
                  <a:srgbClr val="FFB72B"/>
                </a:solidFill>
                <a:latin typeface="Calibri"/>
              </a:defRPr>
            </a:pPr>
            <a:r>
              <a:t>Happy Birthday!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2103120"/>
            <a:ext cx="9966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 i="0">
                <a:solidFill>
                  <a:srgbClr val="FFFFFF"/>
                </a:solidFill>
                <a:latin typeface="Calibri"/>
              </a:defRPr>
            </a:pPr>
            <a:r>
              <a:t>* Stanislav Zakharov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2743200"/>
            <a:ext cx="9966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0">
                <a:solidFill>
                  <a:srgbClr val="8F95A3"/>
                </a:solidFill>
                <a:latin typeface="Calibri"/>
              </a:defRPr>
            </a:pPr>
            <a:r>
              <a:t>June 28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3291840"/>
            <a:ext cx="9966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 i="0">
                <a:solidFill>
                  <a:srgbClr val="E2E2EA"/>
                </a:solidFill>
                <a:latin typeface="Calibri"/>
              </a:defRPr>
            </a:pPr>
            <a:r>
              <a:t>Wishing you an amazing day filled with joy and celebration!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4572000"/>
            <a:ext cx="9966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1">
                <a:solidFill>
                  <a:srgbClr val="FFB72B"/>
                </a:solidFill>
                <a:latin typeface="Calibri"/>
              </a:defRPr>
            </a:pPr>
            <a:r>
              <a:t>* Gaming Creatives · * Serbia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8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0"/>
            <a:ext cx="12191695" cy="54864"/>
          </a:xfrm>
          <a:prstGeom prst="rect">
            <a:avLst/>
          </a:prstGeom>
          <a:solidFill>
            <a:srgbClr val="FFB7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73152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1">
                <a:solidFill>
                  <a:srgbClr val="FFB72B"/>
                </a:solidFill>
                <a:latin typeface="Calibri"/>
              </a:defRPr>
            </a:pPr>
            <a:r>
              <a:t>🎂  CELEBRATION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188720"/>
            <a:ext cx="9966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 i="0">
                <a:solidFill>
                  <a:srgbClr val="FFB72B"/>
                </a:solidFill>
                <a:latin typeface="Calibri"/>
              </a:defRPr>
            </a:pPr>
            <a:r>
              <a:t>Happy Birthday!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2103120"/>
            <a:ext cx="9966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 i="0">
                <a:solidFill>
                  <a:srgbClr val="FFFFFF"/>
                </a:solidFill>
                <a:latin typeface="Calibri"/>
              </a:defRPr>
            </a:pPr>
            <a:r>
              <a:t>* Rachel Lu Rachel Lu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2743200"/>
            <a:ext cx="9966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0">
                <a:solidFill>
                  <a:srgbClr val="8F95A3"/>
                </a:solidFill>
                <a:latin typeface="Calibri"/>
              </a:defRPr>
            </a:pPr>
            <a:r>
              <a:t>June 28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3291840"/>
            <a:ext cx="9966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 i="0">
                <a:solidFill>
                  <a:srgbClr val="E2E2EA"/>
                </a:solidFill>
                <a:latin typeface="Calibri"/>
              </a:defRPr>
            </a:pPr>
            <a:r>
              <a:t>Wishing you an amazing day filled with joy and celebration!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4572000"/>
            <a:ext cx="9966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1">
                <a:solidFill>
                  <a:srgbClr val="FFB72B"/>
                </a:solidFill>
                <a:latin typeface="Calibri"/>
              </a:defRPr>
            </a:pPr>
            <a:r>
              <a:t>* Holding: Sales · * China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8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0"/>
            <a:ext cx="12191695" cy="54864"/>
          </a:xfrm>
          <a:prstGeom prst="rect">
            <a:avLst/>
          </a:prstGeom>
          <a:solidFill>
            <a:srgbClr val="00FF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73152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1">
                <a:solidFill>
                  <a:srgbClr val="00FFD1"/>
                </a:solidFill>
                <a:latin typeface="Calibri"/>
              </a:defRPr>
            </a:pPr>
            <a:r>
              <a:t>📢  OFFICE LIFE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188720"/>
            <a:ext cx="9966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 i="0">
                <a:solidFill>
                  <a:srgbClr val="00FFD1"/>
                </a:solidFill>
                <a:latin typeface="Calibri"/>
              </a:defRPr>
            </a:pPr>
            <a:r>
              <a:t>From #general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2103120"/>
            <a:ext cx="9966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 i="0">
                <a:solidFill>
                  <a:srgbClr val="FFFFFF"/>
                </a:solidFill>
                <a:latin typeface="Calibri"/>
              </a:defRPr>
            </a:pPr>
            <a:r>
              <a:t>A note on how we work — and a standard I want us to hold as we become an AI-nati...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2743200"/>
            <a:ext cx="96926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 i="1">
                <a:solidFill>
                  <a:srgbClr val="E2E2EA"/>
                </a:solidFill>
                <a:latin typeface="Calibri"/>
              </a:defRPr>
            </a:pPr>
            <a:r>
              <a:t>"A note on how we work — and a standard I want us to hold as we become an AI-native company. Our entire AI strategy rests on one shared, queryable intelligence layer: a single place where our people and our agents can ask “what do we know about X, and why did we decide it?” and get a grounded, cited "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4754880"/>
            <a:ext cx="9966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0">
                <a:solidFill>
                  <a:srgbClr val="8F95A3"/>
                </a:solidFill>
                <a:latin typeface="Calibri"/>
              </a:defRPr>
            </a:pPr>
            <a:r>
              <a:t>— Pavel Golubev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5760720"/>
            <a:ext cx="9966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5C6270"/>
                </a:solidFill>
                <a:latin typeface="Calibri"/>
              </a:defRPr>
            </a:pPr>
            <a:r>
              <a:t>#general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8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0"/>
            <a:ext cx="12191695" cy="54864"/>
          </a:xfrm>
          <a:prstGeom prst="rect">
            <a:avLst/>
          </a:prstGeom>
          <a:solidFill>
            <a:srgbClr val="5D2C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73152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1">
                <a:solidFill>
                  <a:srgbClr val="5D2CAC"/>
                </a:solidFill>
                <a:latin typeface="Calibri"/>
              </a:defRPr>
            </a:pPr>
            <a:r>
              <a:t>👏  OFFICE LIFE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188720"/>
            <a:ext cx="9966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 i="0">
                <a:solidFill>
                  <a:srgbClr val="5D2CAC"/>
                </a:solidFill>
                <a:latin typeface="Calibri"/>
              </a:defRPr>
            </a:pPr>
            <a:r>
              <a:t>From #claps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2103120"/>
            <a:ext cx="9966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 i="0">
                <a:solidFill>
                  <a:srgbClr val="FFFFFF"/>
                </a:solidFill>
                <a:latin typeface="Calibri"/>
              </a:defRPr>
            </a:pPr>
            <a:r>
              <a:t>Iurii Kotov Dima M. received 10× from Isahakyan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2743200"/>
            <a:ext cx="96926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 i="1">
                <a:solidFill>
                  <a:srgbClr val="E2E2EA"/>
                </a:solidFill>
                <a:latin typeface="Calibri"/>
              </a:defRPr>
            </a:pPr>
            <a:r>
              <a:t>"Iurii Kotov Dima M. received 10× from Isahakyan"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4754880"/>
            <a:ext cx="9966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0">
                <a:solidFill>
                  <a:srgbClr val="8F95A3"/>
                </a:solidFill>
                <a:latin typeface="Calibri"/>
              </a:defRPr>
            </a:pPr>
            <a:r>
              <a:t>— Clappy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5760720"/>
            <a:ext cx="9966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5C6270"/>
                </a:solidFill>
                <a:latin typeface="Calibri"/>
              </a:defRPr>
            </a:pPr>
            <a:r>
              <a:t>#claps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8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0"/>
            <a:ext cx="12191695" cy="54864"/>
          </a:xfrm>
          <a:prstGeom prst="rect">
            <a:avLst/>
          </a:prstGeom>
          <a:solidFill>
            <a:srgbClr val="5D2C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73152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1">
                <a:solidFill>
                  <a:srgbClr val="5D2CAC"/>
                </a:solidFill>
                <a:latin typeface="Calibri"/>
              </a:defRPr>
            </a:pPr>
            <a:r>
              <a:t>👏  OFFICE LIFE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188720"/>
            <a:ext cx="9966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 i="0">
                <a:solidFill>
                  <a:srgbClr val="5D2CAC"/>
                </a:solidFill>
                <a:latin typeface="Calibri"/>
              </a:defRPr>
            </a:pPr>
            <a:r>
              <a:t>From #claps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2103120"/>
            <a:ext cx="9966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 i="0">
                <a:solidFill>
                  <a:srgbClr val="FFFFFF"/>
                </a:solidFill>
                <a:latin typeface="Calibri"/>
              </a:defRPr>
            </a:pPr>
            <a:r>
              <a:t>Iurii Kotov received 30× from Dima M.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2743200"/>
            <a:ext cx="96926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 i="1">
                <a:solidFill>
                  <a:srgbClr val="E2E2EA"/>
                </a:solidFill>
                <a:latin typeface="Calibri"/>
              </a:defRPr>
            </a:pPr>
            <a:r>
              <a:t>"Iurii Kotov received 30× from Dima M."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4754880"/>
            <a:ext cx="9966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0">
                <a:solidFill>
                  <a:srgbClr val="8F95A3"/>
                </a:solidFill>
                <a:latin typeface="Calibri"/>
              </a:defRPr>
            </a:pPr>
            <a:r>
              <a:t>— Clappy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5760720"/>
            <a:ext cx="9966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5C6270"/>
                </a:solidFill>
                <a:latin typeface="Calibri"/>
              </a:defRPr>
            </a:pPr>
            <a:r>
              <a:t>#claps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